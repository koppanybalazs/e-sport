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00"/>
    <a:srgbClr val="0E0D14"/>
    <a:srgbClr val="9A98B0"/>
    <a:srgbClr val="1D1B3A"/>
    <a:srgbClr val="1716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474" y="-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munkalap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munkalap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AI kódrészek</c:v>
                </c:pt>
              </c:strCache>
            </c:strRef>
          </c:tx>
          <c:dPt>
            <c:idx val="0"/>
            <c:bubble3D val="0"/>
            <c:spPr>
              <a:solidFill>
                <a:srgbClr val="F4F4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906-4B38-AB75-36211AA23951}"/>
              </c:ext>
            </c:extLst>
          </c:dPt>
          <c:dPt>
            <c:idx val="1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906-4B38-AB75-36211AA23951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u-H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906-4B38-AB75-36211AA2395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hu-H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Munka1!$A$2:$A$3</c:f>
              <c:strCache>
                <c:ptCount val="2"/>
                <c:pt idx="0">
                  <c:v>Saját kód</c:v>
                </c:pt>
                <c:pt idx="1">
                  <c:v>AI</c:v>
                </c:pt>
              </c:strCache>
            </c:strRef>
          </c:cat>
          <c:val>
            <c:numRef>
              <c:f>Munka1!$B$2:$B$3</c:f>
              <c:numCache>
                <c:formatCode>0.00%</c:formatCode>
                <c:ptCount val="2"/>
                <c:pt idx="0">
                  <c:v>0.64300000000000002</c:v>
                </c:pt>
                <c:pt idx="1">
                  <c:v>0.35699999999999998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906-4B38-AB75-36211AA2395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8125000000000001E-2"/>
          <c:y val="0.13172538559760177"/>
          <c:w val="0.20330585629921263"/>
          <c:h val="0.223743404051217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AI kódrészek</c:v>
                </c:pt>
              </c:strCache>
            </c:strRef>
          </c:tx>
          <c:dPt>
            <c:idx val="0"/>
            <c:bubble3D val="0"/>
            <c:spPr>
              <a:solidFill>
                <a:srgbClr val="F4F4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AF9-416B-A600-F0F1782A393A}"/>
              </c:ext>
            </c:extLst>
          </c:dPt>
          <c:dPt>
            <c:idx val="1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CAF9-416B-A600-F0F1782A393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u-H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CAF9-416B-A600-F0F1782A39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hu-H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Munka1!$A$2:$A$3</c:f>
              <c:strCache>
                <c:ptCount val="2"/>
                <c:pt idx="0">
                  <c:v>Saját kód</c:v>
                </c:pt>
                <c:pt idx="1">
                  <c:v>AI</c:v>
                </c:pt>
              </c:strCache>
            </c:strRef>
          </c:cat>
          <c:val>
            <c:numRef>
              <c:f>Munka1!$B$2:$B$3</c:f>
              <c:numCache>
                <c:formatCode>0.00%</c:formatCode>
                <c:ptCount val="2"/>
                <c:pt idx="0">
                  <c:v>0.64300000000000002</c:v>
                </c:pt>
                <c:pt idx="1">
                  <c:v>0.35699999999999998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F9-416B-A600-F0F1782A393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8125000000000001E-2"/>
          <c:y val="0.13172538559760177"/>
          <c:w val="0.20330585629921263"/>
          <c:h val="0.223743404051217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154A9-0E03-40C4-A863-286D7D3EBC02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8B022-830A-4846-A37A-CA1967FA767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30971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8B022-830A-4846-A37A-CA1967FA7679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6515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8B022-830A-4846-A37A-CA1967FA7679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6485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8DAA66-3690-FF54-52BC-F5F2925BA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AA07035-C85D-3537-D27C-F79B4C63D9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9A98B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62C9E83-E504-F860-BA7E-5C7BACF29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01378-DC85-4966-8380-8E9570F461DE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F0B2324-6141-8018-82BD-DEB3623DB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01D0C36-B34C-AF21-5633-C806CEC26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FB627-8A5B-4705-B832-9EC695B06C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7539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DBD8FD-F884-937D-C4F0-513A818B5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6FB0D8C-671B-C550-1525-EECFBDB6C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BE7BC17-01BA-A024-DB32-0B6B3FD0B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01378-DC85-4966-8380-8E9570F461DE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6BEACB2-25AA-3928-EE09-64F30C051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A77F056-04D9-7B21-3542-8A7394865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FB627-8A5B-4705-B832-9EC695B06C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11929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A03B82-3D37-90CF-B875-EA264A675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89E3688-9DA6-A829-B416-9B65B7105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D9879C2-DBBF-815D-5348-23ABB3291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01378-DC85-4966-8380-8E9570F461DE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8F4FB30-D104-63A7-47FD-0C7EDD043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AC4B58B-2B3B-3F7F-6964-2EE6BCE2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FB627-8A5B-4705-B832-9EC695B06C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1496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99A705-731C-FF0F-ECC9-AB65DAD9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EB151A6-7B92-4E2A-81EE-01DCEC8BED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A618E66-C91B-0D77-AB27-110265762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620F971-60A7-4CF7-B4FC-2F3943B90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01378-DC85-4966-8380-8E9570F461DE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EE05A05-59D2-DE9D-9B0E-951E3C030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56B4836-766F-0CD2-4854-C6A51F704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FB627-8A5B-4705-B832-9EC695B06C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5024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265DE0-1F5F-76F1-D8E3-99D3BBAE7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D437042-AFB5-02D5-DA02-35800D18E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F8F8DC3-114F-8539-596E-3659796F4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5BCFDAC8-1CC5-0FA6-600E-64B5BEB487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F988D915-F917-7E60-CD02-6592DF4F30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724DED22-DE74-7E5C-041C-CFB270907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01378-DC85-4966-8380-8E9570F461DE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4BA1FB7E-2147-881F-EF98-942AB37B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1DB5EA3A-18D4-E55C-474D-50BC7BE10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FB627-8A5B-4705-B832-9EC695B06C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00309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894F1D-7556-4B6C-E5A3-ABB3C59A9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F6A5B77-1C0C-4F0C-EA76-FE1DF4ED0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01378-DC85-4966-8380-8E9570F461DE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A17E934-F17F-9CC2-AE36-E7A5455E2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82BF44B-E716-BC89-2773-E5304E7B1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FB627-8A5B-4705-B832-9EC695B06C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2822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377E2AD-BABB-46C1-1620-9170F79C7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01378-DC85-4966-8380-8E9570F461DE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E0E1549-62E3-FDAB-4F5B-146D06B6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46D919E-0C26-E5CD-80C8-97EBE03C6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FB627-8A5B-4705-B832-9EC695B06C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93508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320C7C-845D-31D2-D834-BC4FB04C7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C410A55-A3A6-25B0-AB44-A773AB556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C1BE122-5351-6D63-7EF7-24646DA74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4DED77C-69DE-E1C0-29BA-51ED78E0D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01378-DC85-4966-8380-8E9570F461DE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15F299A-82A9-8C29-2CF2-227CEFC49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9BA91E8-BB69-BC37-04A7-B647177B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FB627-8A5B-4705-B832-9EC695B06C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1753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AAEECC-6202-EBF4-7862-024CB369F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79973496-12D7-5552-3739-A53BC32B560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AFD76C6-1AB4-5961-9FC1-7DE20C31F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62FDED8-AB59-255E-09EF-02F28B91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01378-DC85-4966-8380-8E9570F461DE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D34A5A9-AC36-18AA-B1C3-82BB3FE27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9683CD1-42BF-3CA1-E58C-1DD9C56F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FB627-8A5B-4705-B832-9EC695B06C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1399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A32895-F3AB-7C98-2137-3F051141C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2C698D3-187F-B9A1-36AB-EA38F0273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75907F4-0356-77F5-1A85-DF0BB536A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01378-DC85-4966-8380-8E9570F461DE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ACE348F-2520-25BE-AA62-1C9AE4C25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72B8DB8-AD01-4A5D-ED5F-9ED96BE3F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FB627-8A5B-4705-B832-9EC695B06C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81424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DA09586-B6D5-CD76-6332-183F22C47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ACB1D12-E3DB-BA1A-26C6-230D12E0A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1170347-37C5-7A8F-EC24-3BAE9E7DD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01378-DC85-4966-8380-8E9570F461DE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AEF71E9-1AA9-3119-36CF-9F8B3774B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4C41756-2C9E-0C06-6FFA-9AA7E3B1A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FB627-8A5B-4705-B832-9EC695B06C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42346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E0D14"/>
            </a:gs>
            <a:gs pos="100000">
              <a:srgbClr val="1D1B3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24D56A4B-69A6-6125-C212-DF76F57EC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6A0AB20-C0A6-1C6D-A79C-E65CC1C20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29FEB9B-EDC3-7A87-1711-6F0775CE13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6D001378-DC85-4966-8380-8E9570F461DE}" type="datetimeFigureOut">
              <a:rPr lang="hu-HU" smtClean="0"/>
              <a:pPr/>
              <a:t>2026. 10. 18.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02D0870-0699-003E-A3EC-AAF195058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BB0B273-2C23-3FE7-D8EA-CC64CA4D1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316FB627-8A5B-4705-B832-9EC695B06C1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5825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small" baseline="0">
          <a:solidFill>
            <a:schemeClr val="bg1">
              <a:lumMod val="95000"/>
            </a:schemeClr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</a:schemeClr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95000"/>
            </a:schemeClr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95000"/>
            </a:schemeClr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</a:schemeClr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</a:schemeClr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FB697F-C668-2B2C-7F05-D98452DC61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E-Sport csapat adminisztrációs felület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57213C4-4329-95D5-0DE4-29E93DE9F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74495"/>
            <a:ext cx="9144000" cy="1655762"/>
          </a:xfrm>
        </p:spPr>
        <p:txBody>
          <a:bodyPr/>
          <a:lstStyle/>
          <a:p>
            <a:r>
              <a:rPr lang="hu-HU" dirty="0"/>
              <a:t>Készítette: Koppány Balázs, Kiss Bálint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FCE2F399-6133-FE63-4F60-23FB44EADEE6}"/>
              </a:ext>
            </a:extLst>
          </p:cNvPr>
          <p:cNvSpPr/>
          <p:nvPr/>
        </p:nvSpPr>
        <p:spPr>
          <a:xfrm rot="5400000">
            <a:off x="6053137" y="1478531"/>
            <a:ext cx="85725" cy="6072188"/>
          </a:xfrm>
          <a:prstGeom prst="rect">
            <a:avLst/>
          </a:prstGeom>
          <a:solidFill>
            <a:srgbClr val="F4F4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0806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DFC3E4-A953-0DA3-06C1-01025392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Követelmények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D613BEA-0E37-07A3-5691-1EB76164F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7513" y="1690688"/>
            <a:ext cx="5722257" cy="4681992"/>
          </a:xfrm>
        </p:spPr>
        <p:txBody>
          <a:bodyPr/>
          <a:lstStyle/>
          <a:p>
            <a:r>
              <a:rPr lang="hu-HU" dirty="0"/>
              <a:t>E-sport csapat játékosainak nyilvántartása</a:t>
            </a:r>
          </a:p>
          <a:p>
            <a:r>
              <a:rPr lang="hu-HU" dirty="0"/>
              <a:t>Teljes CRUD-funkció biztosítása</a:t>
            </a:r>
          </a:p>
          <a:p>
            <a:pPr lvl="1"/>
            <a:r>
              <a:rPr lang="hu-HU" dirty="0"/>
              <a:t>CREATE: Játékos felvétele</a:t>
            </a:r>
          </a:p>
          <a:p>
            <a:pPr lvl="1"/>
            <a:r>
              <a:rPr lang="hu-HU" dirty="0"/>
              <a:t>READ: Szűrés játék alapján</a:t>
            </a:r>
          </a:p>
          <a:p>
            <a:pPr lvl="1"/>
            <a:r>
              <a:rPr lang="hu-HU" dirty="0"/>
              <a:t>UPDATE: Statisztikák, attribútumok teljesen változtathatók</a:t>
            </a:r>
          </a:p>
          <a:p>
            <a:pPr lvl="1"/>
            <a:r>
              <a:rPr lang="hu-HU" dirty="0"/>
              <a:t>DELETE: Szerződés törlése</a:t>
            </a:r>
          </a:p>
          <a:p>
            <a:pPr marL="0" indent="0">
              <a:buNone/>
            </a:pPr>
            <a:endParaRPr lang="hu-HU" dirty="0"/>
          </a:p>
          <a:p>
            <a:pPr marL="457200" lvl="1" indent="0">
              <a:buNone/>
            </a:pPr>
            <a:endParaRPr lang="hu-HU" dirty="0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722D2C5-490A-BBF8-E427-57BAB687EEFD}"/>
              </a:ext>
            </a:extLst>
          </p:cNvPr>
          <p:cNvSpPr/>
          <p:nvPr/>
        </p:nvSpPr>
        <p:spPr>
          <a:xfrm>
            <a:off x="485774" y="392906"/>
            <a:ext cx="85725" cy="6072188"/>
          </a:xfrm>
          <a:prstGeom prst="rect">
            <a:avLst/>
          </a:prstGeom>
          <a:solidFill>
            <a:srgbClr val="F4F4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2EB8C032-EC3E-E691-AB54-6343E17EDC8F}"/>
              </a:ext>
            </a:extLst>
          </p:cNvPr>
          <p:cNvGrpSpPr/>
          <p:nvPr/>
        </p:nvGrpSpPr>
        <p:grpSpPr>
          <a:xfrm>
            <a:off x="1287088" y="6753224"/>
            <a:ext cx="4808912" cy="5412590"/>
            <a:chOff x="1157511" y="6753225"/>
            <a:chExt cx="4808912" cy="5412590"/>
          </a:xfrm>
        </p:grpSpPr>
        <p:sp>
          <p:nvSpPr>
            <p:cNvPr id="8" name="Téglalap 7">
              <a:extLst>
                <a:ext uri="{FF2B5EF4-FFF2-40B4-BE49-F238E27FC236}">
                  <a16:creationId xmlns:a16="http://schemas.microsoft.com/office/drawing/2014/main" id="{647383E4-4968-FA08-3251-A756440CA6D0}"/>
                </a:ext>
              </a:extLst>
            </p:cNvPr>
            <p:cNvSpPr/>
            <p:nvPr/>
          </p:nvSpPr>
          <p:spPr>
            <a:xfrm>
              <a:off x="1157512" y="6857999"/>
              <a:ext cx="4808911" cy="5307816"/>
            </a:xfrm>
            <a:prstGeom prst="rect">
              <a:avLst/>
            </a:prstGeom>
            <a:solidFill>
              <a:srgbClr val="1716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180000" rIns="360000" bIns="360000" rtlCol="0" anchor="t"/>
            <a:lstStyle/>
            <a:p>
              <a:r>
                <a:rPr lang="hu-HU" sz="2800" dirty="0"/>
                <a:t>Koppány: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GitHub </a:t>
              </a:r>
              <a:r>
                <a:rPr lang="hu-HU" sz="2200" dirty="0" err="1"/>
                <a:t>init</a:t>
              </a:r>
              <a:endParaRPr lang="hu-HU" sz="2200" dirty="0"/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Game.js osztály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Adatmodellezés tervezése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Játékosok megjelenítése, szerkesztése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Játékosokhoz tartozó statisztikák megjelenítése, szerkesztése</a:t>
              </a:r>
            </a:p>
          </p:txBody>
        </p:sp>
        <p:sp>
          <p:nvSpPr>
            <p:cNvPr id="11" name="Téglalap 10">
              <a:extLst>
                <a:ext uri="{FF2B5EF4-FFF2-40B4-BE49-F238E27FC236}">
                  <a16:creationId xmlns:a16="http://schemas.microsoft.com/office/drawing/2014/main" id="{2E3F22C8-119B-0954-C3C8-3FE36BA22DF4}"/>
                </a:ext>
              </a:extLst>
            </p:cNvPr>
            <p:cNvSpPr/>
            <p:nvPr/>
          </p:nvSpPr>
          <p:spPr>
            <a:xfrm flipH="1">
              <a:off x="1157511" y="6753225"/>
              <a:ext cx="4808911" cy="1047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81C2A6F2-66D7-0873-F9ED-2B4C1AE2C941}"/>
              </a:ext>
            </a:extLst>
          </p:cNvPr>
          <p:cNvGrpSpPr/>
          <p:nvPr/>
        </p:nvGrpSpPr>
        <p:grpSpPr>
          <a:xfrm>
            <a:off x="6879769" y="6753225"/>
            <a:ext cx="4808912" cy="5412589"/>
            <a:chOff x="1157512" y="6753225"/>
            <a:chExt cx="4808912" cy="5412589"/>
          </a:xfrm>
        </p:grpSpPr>
        <p:sp>
          <p:nvSpPr>
            <p:cNvPr id="14" name="Téglalap 13">
              <a:extLst>
                <a:ext uri="{FF2B5EF4-FFF2-40B4-BE49-F238E27FC236}">
                  <a16:creationId xmlns:a16="http://schemas.microsoft.com/office/drawing/2014/main" id="{726F8D09-B864-9A19-5F02-C64EC43CDC3D}"/>
                </a:ext>
              </a:extLst>
            </p:cNvPr>
            <p:cNvSpPr/>
            <p:nvPr/>
          </p:nvSpPr>
          <p:spPr>
            <a:xfrm>
              <a:off x="1157513" y="6857999"/>
              <a:ext cx="4808911" cy="5307815"/>
            </a:xfrm>
            <a:prstGeom prst="rect">
              <a:avLst/>
            </a:prstGeom>
            <a:solidFill>
              <a:srgbClr val="1716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180000" rIns="360000" bIns="360000" rtlCol="0" anchor="t"/>
            <a:lstStyle/>
            <a:p>
              <a:r>
                <a:rPr lang="hu-HU" sz="2800" dirty="0"/>
                <a:t>Kiss: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Tesztkörnyezet előkészítése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 err="1"/>
                <a:t>Figma</a:t>
              </a:r>
              <a:r>
                <a:rPr lang="hu-HU" sz="2200" dirty="0"/>
                <a:t> terv teljes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Player.js osztály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Játékosok hozzáadása, törlése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Web design, CSS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 err="1"/>
                <a:t>Toastok</a:t>
              </a:r>
              <a:r>
                <a:rPr lang="hu-HU" sz="2200" dirty="0"/>
                <a:t>, </a:t>
              </a:r>
              <a:r>
                <a:rPr lang="hu-HU" sz="2200" dirty="0" err="1"/>
                <a:t>Modalok</a:t>
              </a:r>
              <a:r>
                <a:rPr lang="hu-HU" sz="2200" dirty="0"/>
                <a:t> kivitelezése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PPT</a:t>
              </a:r>
            </a:p>
          </p:txBody>
        </p:sp>
        <p:sp>
          <p:nvSpPr>
            <p:cNvPr id="15" name="Téglalap 14">
              <a:extLst>
                <a:ext uri="{FF2B5EF4-FFF2-40B4-BE49-F238E27FC236}">
                  <a16:creationId xmlns:a16="http://schemas.microsoft.com/office/drawing/2014/main" id="{E575C8B5-1FCC-E87B-3E20-83951B31F283}"/>
                </a:ext>
              </a:extLst>
            </p:cNvPr>
            <p:cNvSpPr/>
            <p:nvPr/>
          </p:nvSpPr>
          <p:spPr>
            <a:xfrm flipH="1">
              <a:off x="1157512" y="6753225"/>
              <a:ext cx="4808911" cy="10477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2073208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6AB03-E787-47A2-74C6-A602CA200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9E2B0F-9E70-80ED-9579-B25B3D68E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Követelmények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5724917A-C4CE-03DD-AD63-C71927974051}"/>
              </a:ext>
            </a:extLst>
          </p:cNvPr>
          <p:cNvSpPr/>
          <p:nvPr/>
        </p:nvSpPr>
        <p:spPr>
          <a:xfrm>
            <a:off x="485774" y="392906"/>
            <a:ext cx="85725" cy="6072188"/>
          </a:xfrm>
          <a:prstGeom prst="rect">
            <a:avLst/>
          </a:prstGeom>
          <a:solidFill>
            <a:srgbClr val="F4F4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A9185E9E-5249-7C2A-2C91-89BEA1822EF1}"/>
              </a:ext>
            </a:extLst>
          </p:cNvPr>
          <p:cNvGrpSpPr/>
          <p:nvPr/>
        </p:nvGrpSpPr>
        <p:grpSpPr>
          <a:xfrm>
            <a:off x="1287088" y="2065110"/>
            <a:ext cx="4808912" cy="5412590"/>
            <a:chOff x="1157511" y="6753225"/>
            <a:chExt cx="4808912" cy="5412590"/>
          </a:xfrm>
        </p:grpSpPr>
        <p:sp>
          <p:nvSpPr>
            <p:cNvPr id="8" name="Téglalap 7">
              <a:extLst>
                <a:ext uri="{FF2B5EF4-FFF2-40B4-BE49-F238E27FC236}">
                  <a16:creationId xmlns:a16="http://schemas.microsoft.com/office/drawing/2014/main" id="{0CC83301-74C9-3A4A-9181-1C7D51DA4890}"/>
                </a:ext>
              </a:extLst>
            </p:cNvPr>
            <p:cNvSpPr/>
            <p:nvPr/>
          </p:nvSpPr>
          <p:spPr>
            <a:xfrm>
              <a:off x="1157512" y="6857999"/>
              <a:ext cx="4808911" cy="5307816"/>
            </a:xfrm>
            <a:prstGeom prst="rect">
              <a:avLst/>
            </a:prstGeom>
            <a:solidFill>
              <a:srgbClr val="1716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180000" rIns="360000" bIns="360000" rtlCol="0" anchor="t"/>
            <a:lstStyle/>
            <a:p>
              <a:r>
                <a:rPr lang="hu-HU" sz="2800" dirty="0"/>
                <a:t>Koppány: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GitHub </a:t>
              </a:r>
              <a:r>
                <a:rPr lang="hu-HU" sz="2200" dirty="0" err="1"/>
                <a:t>init</a:t>
              </a:r>
              <a:endParaRPr lang="hu-HU" sz="2200" dirty="0"/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Game.js osztály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Adatmodellezés tervezése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Játékosok megjelenítése, szerkesztése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Játékosokhoz tartozó statisztikák megjelenítése, szerkesztése</a:t>
              </a:r>
            </a:p>
          </p:txBody>
        </p:sp>
        <p:sp>
          <p:nvSpPr>
            <p:cNvPr id="11" name="Téglalap 10">
              <a:extLst>
                <a:ext uri="{FF2B5EF4-FFF2-40B4-BE49-F238E27FC236}">
                  <a16:creationId xmlns:a16="http://schemas.microsoft.com/office/drawing/2014/main" id="{7306A5F2-72F5-706C-4CBB-B547859B526C}"/>
                </a:ext>
              </a:extLst>
            </p:cNvPr>
            <p:cNvSpPr/>
            <p:nvPr/>
          </p:nvSpPr>
          <p:spPr>
            <a:xfrm flipH="1">
              <a:off x="1157511" y="6753225"/>
              <a:ext cx="4808911" cy="1047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39FC0A1A-39D5-6A1E-F1BF-B141E6736C88}"/>
              </a:ext>
            </a:extLst>
          </p:cNvPr>
          <p:cNvGrpSpPr/>
          <p:nvPr/>
        </p:nvGrpSpPr>
        <p:grpSpPr>
          <a:xfrm>
            <a:off x="6879769" y="6753225"/>
            <a:ext cx="4808912" cy="5412589"/>
            <a:chOff x="1157512" y="6753225"/>
            <a:chExt cx="4808912" cy="5412589"/>
          </a:xfrm>
        </p:grpSpPr>
        <p:sp>
          <p:nvSpPr>
            <p:cNvPr id="17" name="Téglalap 16">
              <a:extLst>
                <a:ext uri="{FF2B5EF4-FFF2-40B4-BE49-F238E27FC236}">
                  <a16:creationId xmlns:a16="http://schemas.microsoft.com/office/drawing/2014/main" id="{0A64A1EC-D93F-DC43-FB0B-E7A31D598FCA}"/>
                </a:ext>
              </a:extLst>
            </p:cNvPr>
            <p:cNvSpPr/>
            <p:nvPr/>
          </p:nvSpPr>
          <p:spPr>
            <a:xfrm>
              <a:off x="1157513" y="6857999"/>
              <a:ext cx="4808911" cy="5307815"/>
            </a:xfrm>
            <a:prstGeom prst="rect">
              <a:avLst/>
            </a:prstGeom>
            <a:solidFill>
              <a:srgbClr val="1716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180000" rIns="360000" bIns="360000" rtlCol="0" anchor="t"/>
            <a:lstStyle/>
            <a:p>
              <a:r>
                <a:rPr lang="hu-HU" sz="2800" dirty="0"/>
                <a:t>Kiss: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Tesztkörnyezet előkészítése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 err="1"/>
                <a:t>Figma</a:t>
              </a:r>
              <a:r>
                <a:rPr lang="hu-HU" sz="2200" dirty="0"/>
                <a:t> terv teljes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Player.js osztály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Játékosok hozzáadása, törlése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Web design, CSS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 err="1"/>
                <a:t>Toastok</a:t>
              </a:r>
              <a:r>
                <a:rPr lang="hu-HU" sz="2200" dirty="0"/>
                <a:t>, </a:t>
              </a:r>
              <a:r>
                <a:rPr lang="hu-HU" sz="2200" dirty="0" err="1"/>
                <a:t>Modalok</a:t>
              </a:r>
              <a:r>
                <a:rPr lang="hu-HU" sz="2200" dirty="0"/>
                <a:t> kivitelezése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PPT</a:t>
              </a:r>
            </a:p>
          </p:txBody>
        </p:sp>
        <p:sp>
          <p:nvSpPr>
            <p:cNvPr id="18" name="Téglalap 17">
              <a:extLst>
                <a:ext uri="{FF2B5EF4-FFF2-40B4-BE49-F238E27FC236}">
                  <a16:creationId xmlns:a16="http://schemas.microsoft.com/office/drawing/2014/main" id="{C095DBE2-E26F-90DF-EC16-824BE914920A}"/>
                </a:ext>
              </a:extLst>
            </p:cNvPr>
            <p:cNvSpPr/>
            <p:nvPr/>
          </p:nvSpPr>
          <p:spPr>
            <a:xfrm flipH="1">
              <a:off x="1157512" y="6753225"/>
              <a:ext cx="4808911" cy="10477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2076083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64071-AC1E-8C2E-A6A3-B3F7A5BD2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74CA1D-CAA7-5239-D744-1B9C65366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Követelmények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45781CDE-D04C-CCD5-B7D6-39DF7455392C}"/>
              </a:ext>
            </a:extLst>
          </p:cNvPr>
          <p:cNvSpPr/>
          <p:nvPr/>
        </p:nvSpPr>
        <p:spPr>
          <a:xfrm>
            <a:off x="485774" y="392906"/>
            <a:ext cx="85725" cy="6072188"/>
          </a:xfrm>
          <a:prstGeom prst="rect">
            <a:avLst/>
          </a:prstGeom>
          <a:solidFill>
            <a:srgbClr val="F4F4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00B4518F-AC0B-A49C-CB96-49C65624032B}"/>
              </a:ext>
            </a:extLst>
          </p:cNvPr>
          <p:cNvGrpSpPr/>
          <p:nvPr/>
        </p:nvGrpSpPr>
        <p:grpSpPr>
          <a:xfrm>
            <a:off x="1287088" y="2065110"/>
            <a:ext cx="4808912" cy="5412590"/>
            <a:chOff x="1157511" y="6753225"/>
            <a:chExt cx="4808912" cy="5412590"/>
          </a:xfrm>
        </p:grpSpPr>
        <p:sp>
          <p:nvSpPr>
            <p:cNvPr id="8" name="Téglalap 7">
              <a:extLst>
                <a:ext uri="{FF2B5EF4-FFF2-40B4-BE49-F238E27FC236}">
                  <a16:creationId xmlns:a16="http://schemas.microsoft.com/office/drawing/2014/main" id="{0034BA7B-EC7F-6AF8-9265-A5BADE570E83}"/>
                </a:ext>
              </a:extLst>
            </p:cNvPr>
            <p:cNvSpPr/>
            <p:nvPr/>
          </p:nvSpPr>
          <p:spPr>
            <a:xfrm>
              <a:off x="1157512" y="6857999"/>
              <a:ext cx="4808911" cy="5307816"/>
            </a:xfrm>
            <a:prstGeom prst="rect">
              <a:avLst/>
            </a:prstGeom>
            <a:solidFill>
              <a:srgbClr val="1716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180000" rIns="360000" bIns="360000" rtlCol="0" anchor="t"/>
            <a:lstStyle/>
            <a:p>
              <a:r>
                <a:rPr lang="hu-HU" sz="2800" dirty="0"/>
                <a:t>Koppány: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GitHub </a:t>
              </a:r>
              <a:r>
                <a:rPr lang="hu-HU" sz="2200" dirty="0" err="1"/>
                <a:t>init</a:t>
              </a:r>
              <a:endParaRPr lang="hu-HU" sz="2200" dirty="0"/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Game.js osztály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Adatmodellezés tervezése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Játékosok megjelenítése, szerkesztése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Játékosokhoz tartozó statisztikák megjelenítése, szerkesztése</a:t>
              </a:r>
            </a:p>
          </p:txBody>
        </p:sp>
        <p:sp>
          <p:nvSpPr>
            <p:cNvPr id="11" name="Téglalap 10">
              <a:extLst>
                <a:ext uri="{FF2B5EF4-FFF2-40B4-BE49-F238E27FC236}">
                  <a16:creationId xmlns:a16="http://schemas.microsoft.com/office/drawing/2014/main" id="{8170D8E9-9F6B-1C2C-44A0-00F93E62A0D5}"/>
                </a:ext>
              </a:extLst>
            </p:cNvPr>
            <p:cNvSpPr/>
            <p:nvPr/>
          </p:nvSpPr>
          <p:spPr>
            <a:xfrm flipH="1">
              <a:off x="1157511" y="6753225"/>
              <a:ext cx="4808911" cy="1047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EF4B3BB0-206D-1E85-A2F0-986B8DF6B7F0}"/>
              </a:ext>
            </a:extLst>
          </p:cNvPr>
          <p:cNvGrpSpPr/>
          <p:nvPr/>
        </p:nvGrpSpPr>
        <p:grpSpPr>
          <a:xfrm>
            <a:off x="6897314" y="2065110"/>
            <a:ext cx="4808912" cy="5412589"/>
            <a:chOff x="1157512" y="6753225"/>
            <a:chExt cx="4808912" cy="5412589"/>
          </a:xfrm>
        </p:grpSpPr>
        <p:sp>
          <p:nvSpPr>
            <p:cNvPr id="14" name="Téglalap 13">
              <a:extLst>
                <a:ext uri="{FF2B5EF4-FFF2-40B4-BE49-F238E27FC236}">
                  <a16:creationId xmlns:a16="http://schemas.microsoft.com/office/drawing/2014/main" id="{79635999-D390-FEF4-B12C-2F5D673A05AE}"/>
                </a:ext>
              </a:extLst>
            </p:cNvPr>
            <p:cNvSpPr/>
            <p:nvPr/>
          </p:nvSpPr>
          <p:spPr>
            <a:xfrm>
              <a:off x="1157513" y="6857999"/>
              <a:ext cx="4808911" cy="5307815"/>
            </a:xfrm>
            <a:prstGeom prst="rect">
              <a:avLst/>
            </a:prstGeom>
            <a:solidFill>
              <a:srgbClr val="1716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180000" rIns="360000" bIns="360000" rtlCol="0" anchor="t"/>
            <a:lstStyle/>
            <a:p>
              <a:r>
                <a:rPr lang="hu-HU" sz="2800" dirty="0"/>
                <a:t>Kiss:</a:t>
              </a:r>
              <a:endParaRPr lang="hu-HU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Tesztkörnyezet előkészítése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 err="1"/>
                <a:t>Figma</a:t>
              </a:r>
              <a:r>
                <a:rPr lang="hu-HU" sz="2200" dirty="0"/>
                <a:t> terv teljes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Player.js osztály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Játékosok hozzáadása, törlése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Web design, CSS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 err="1"/>
                <a:t>Toastok</a:t>
              </a:r>
              <a:r>
                <a:rPr lang="hu-HU" sz="2200" dirty="0"/>
                <a:t>, </a:t>
              </a:r>
              <a:r>
                <a:rPr lang="hu-HU" sz="2200" dirty="0" err="1"/>
                <a:t>Modalok</a:t>
              </a:r>
              <a:r>
                <a:rPr lang="hu-HU" sz="2200" dirty="0"/>
                <a:t> kivitelezése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PPT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hu-HU" sz="2400" dirty="0"/>
            </a:p>
          </p:txBody>
        </p:sp>
        <p:sp>
          <p:nvSpPr>
            <p:cNvPr id="15" name="Téglalap 14">
              <a:extLst>
                <a:ext uri="{FF2B5EF4-FFF2-40B4-BE49-F238E27FC236}">
                  <a16:creationId xmlns:a16="http://schemas.microsoft.com/office/drawing/2014/main" id="{2FB8EAA3-7E5B-735C-86DC-A59BA5FDF9A8}"/>
                </a:ext>
              </a:extLst>
            </p:cNvPr>
            <p:cNvSpPr/>
            <p:nvPr/>
          </p:nvSpPr>
          <p:spPr>
            <a:xfrm flipH="1">
              <a:off x="1157512" y="6753225"/>
              <a:ext cx="4808911" cy="10477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C96AA2D-0F14-33CA-BD1A-5EC26EF118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6160129"/>
              </p:ext>
            </p:extLst>
          </p:nvPr>
        </p:nvGraphicFramePr>
        <p:xfrm>
          <a:off x="12364049" y="1439333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11870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2F842-9F50-9825-AEF0-F014A78F0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CFE201-AB50-F542-5015-CE6B32341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AI-Használat a webalkalmazásban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F5674ED0-0A37-CC7F-6D4D-90A56062F0A6}"/>
              </a:ext>
            </a:extLst>
          </p:cNvPr>
          <p:cNvSpPr/>
          <p:nvPr/>
        </p:nvSpPr>
        <p:spPr>
          <a:xfrm>
            <a:off x="485774" y="392906"/>
            <a:ext cx="85725" cy="607218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60D77458-E78B-34F7-BEB5-EA39C41315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4655622"/>
              </p:ext>
            </p:extLst>
          </p:nvPr>
        </p:nvGraphicFramePr>
        <p:xfrm>
          <a:off x="1287088" y="1366192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A5FCEDD3-B6D8-47B9-C6A9-0FD948036E27}"/>
              </a:ext>
            </a:extLst>
          </p:cNvPr>
          <p:cNvGrpSpPr/>
          <p:nvPr/>
        </p:nvGrpSpPr>
        <p:grpSpPr>
          <a:xfrm>
            <a:off x="6679600" y="6757078"/>
            <a:ext cx="4808912" cy="5911171"/>
            <a:chOff x="1157512" y="6753225"/>
            <a:chExt cx="4808912" cy="5911171"/>
          </a:xfrm>
        </p:grpSpPr>
        <p:sp>
          <p:nvSpPr>
            <p:cNvPr id="17" name="Téglalap 16">
              <a:extLst>
                <a:ext uri="{FF2B5EF4-FFF2-40B4-BE49-F238E27FC236}">
                  <a16:creationId xmlns:a16="http://schemas.microsoft.com/office/drawing/2014/main" id="{9900F601-B44D-0603-696F-D4C9355019A8}"/>
                </a:ext>
              </a:extLst>
            </p:cNvPr>
            <p:cNvSpPr/>
            <p:nvPr/>
          </p:nvSpPr>
          <p:spPr>
            <a:xfrm>
              <a:off x="1157513" y="6857999"/>
              <a:ext cx="4808911" cy="5806397"/>
            </a:xfrm>
            <a:prstGeom prst="rect">
              <a:avLst/>
            </a:prstGeom>
            <a:solidFill>
              <a:srgbClr val="1716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180000" rIns="360000" bIns="360000" rtlCol="0" anchor="t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 err="1"/>
                <a:t>Bootstrap</a:t>
              </a:r>
              <a:r>
                <a:rPr lang="hu-HU" sz="2200" dirty="0"/>
                <a:t> tudás kiegészítése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.is-</a:t>
              </a:r>
              <a:r>
                <a:rPr lang="hu-HU" sz="2200" dirty="0" err="1"/>
                <a:t>invalid</a:t>
              </a:r>
              <a:r>
                <a:rPr lang="hu-HU" sz="2200" dirty="0"/>
                <a:t> (</a:t>
              </a:r>
              <a:r>
                <a:rPr lang="hu-HU" sz="2200" dirty="0" err="1"/>
                <a:t>form</a:t>
              </a:r>
              <a:r>
                <a:rPr lang="hu-HU" sz="2200" dirty="0"/>
                <a:t>)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hu-HU" sz="2200" dirty="0" err="1"/>
                <a:t>Reszponzivitás</a:t>
              </a:r>
              <a:r>
                <a:rPr lang="hu-HU" sz="2200" dirty="0"/>
                <a:t> ismeret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A weboldalon kívül semmilyen más helyen nem használtuk! (PPT, </a:t>
              </a:r>
              <a:r>
                <a:rPr lang="hu-HU" sz="2200" dirty="0" err="1"/>
                <a:t>Figma</a:t>
              </a:r>
              <a:r>
                <a:rPr lang="hu-HU" sz="2200" dirty="0"/>
                <a:t> </a:t>
              </a:r>
              <a:r>
                <a:rPr lang="hu-HU" sz="2200" dirty="0" err="1"/>
                <a:t>stb</a:t>
              </a:r>
              <a:r>
                <a:rPr lang="hu-HU" sz="2200" dirty="0"/>
                <a:t>)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Így tehát a projektnek </a:t>
              </a:r>
              <a:r>
                <a:rPr lang="hu-HU" sz="2200" dirty="0" err="1"/>
                <a:t>mégkevesebb</a:t>
              </a:r>
              <a:r>
                <a:rPr lang="hu-HU" sz="2200" dirty="0"/>
                <a:t> százaléka AI!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endParaRPr lang="hu-HU" sz="2400" dirty="0"/>
            </a:p>
          </p:txBody>
        </p:sp>
        <p:sp>
          <p:nvSpPr>
            <p:cNvPr id="18" name="Téglalap 17">
              <a:extLst>
                <a:ext uri="{FF2B5EF4-FFF2-40B4-BE49-F238E27FC236}">
                  <a16:creationId xmlns:a16="http://schemas.microsoft.com/office/drawing/2014/main" id="{732B4871-113F-0BCD-23B3-F98BC1762F2D}"/>
                </a:ext>
              </a:extLst>
            </p:cNvPr>
            <p:cNvSpPr/>
            <p:nvPr/>
          </p:nvSpPr>
          <p:spPr>
            <a:xfrm flipH="1">
              <a:off x="1157512" y="6753225"/>
              <a:ext cx="4808911" cy="10477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9" name="Csoportba foglalás 18">
            <a:extLst>
              <a:ext uri="{FF2B5EF4-FFF2-40B4-BE49-F238E27FC236}">
                <a16:creationId xmlns:a16="http://schemas.microsoft.com/office/drawing/2014/main" id="{BE3A37D5-7A03-2CDB-3E85-FCF9BDA8F035}"/>
              </a:ext>
            </a:extLst>
          </p:cNvPr>
          <p:cNvGrpSpPr/>
          <p:nvPr/>
        </p:nvGrpSpPr>
        <p:grpSpPr>
          <a:xfrm>
            <a:off x="1287088" y="6757078"/>
            <a:ext cx="4808912" cy="5911170"/>
            <a:chOff x="1157511" y="6753225"/>
            <a:chExt cx="4808912" cy="5911170"/>
          </a:xfrm>
        </p:grpSpPr>
        <p:sp>
          <p:nvSpPr>
            <p:cNvPr id="20" name="Téglalap 19">
              <a:extLst>
                <a:ext uri="{FF2B5EF4-FFF2-40B4-BE49-F238E27FC236}">
                  <a16:creationId xmlns:a16="http://schemas.microsoft.com/office/drawing/2014/main" id="{E7885C10-3F31-3CD8-071B-458C891BE806}"/>
                </a:ext>
              </a:extLst>
            </p:cNvPr>
            <p:cNvSpPr/>
            <p:nvPr/>
          </p:nvSpPr>
          <p:spPr>
            <a:xfrm>
              <a:off x="1157512" y="6857998"/>
              <a:ext cx="4808911" cy="5806397"/>
            </a:xfrm>
            <a:prstGeom prst="rect">
              <a:avLst/>
            </a:prstGeom>
            <a:solidFill>
              <a:srgbClr val="1716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180000" rIns="360000" bIns="360000" rtlCol="0" anchor="t"/>
            <a:lstStyle/>
            <a:p>
              <a:r>
                <a:rPr lang="hu-HU" sz="2200" dirty="0"/>
                <a:t>AI-Használat: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 err="1"/>
                <a:t>Helper-functionok</a:t>
              </a:r>
              <a:r>
                <a:rPr lang="hu-HU" sz="2200" dirty="0"/>
                <a:t> megírása 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általában kiíratás segítéséhez, inputellenőr-</a:t>
              </a:r>
              <a:r>
                <a:rPr lang="hu-HU" sz="2200" dirty="0" err="1"/>
                <a:t>zéshez</a:t>
              </a:r>
              <a:endParaRPr lang="hu-HU" sz="2200" dirty="0"/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 err="1"/>
                <a:t>Bootstrapes</a:t>
              </a:r>
              <a:r>
                <a:rPr lang="hu-HU" sz="2200" dirty="0"/>
                <a:t> színek átírása (CSS)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 err="1"/>
                <a:t>Debuggolás</a:t>
              </a:r>
              <a:endParaRPr lang="hu-HU" sz="2200" dirty="0"/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200" dirty="0" err="1"/>
                <a:t>Winrate</a:t>
              </a:r>
              <a:r>
                <a:rPr lang="hu-HU" sz="2200" dirty="0"/>
                <a:t> </a:t>
              </a:r>
              <a:r>
                <a:rPr lang="hu-HU" sz="2200" dirty="0" err="1"/>
                <a:t>chart</a:t>
              </a:r>
              <a:endParaRPr lang="hu-HU" sz="2200" dirty="0"/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 err="1"/>
                <a:t>Logo</a:t>
              </a:r>
              <a:endParaRPr lang="hu-HU" sz="2200" dirty="0"/>
            </a:p>
            <a:p>
              <a:endParaRPr lang="hu-HU" sz="2600" dirty="0"/>
            </a:p>
          </p:txBody>
        </p:sp>
        <p:sp>
          <p:nvSpPr>
            <p:cNvPr id="21" name="Téglalap 20">
              <a:extLst>
                <a:ext uri="{FF2B5EF4-FFF2-40B4-BE49-F238E27FC236}">
                  <a16:creationId xmlns:a16="http://schemas.microsoft.com/office/drawing/2014/main" id="{ADE1B2E3-9024-46D8-AC50-BB86AE688A3A}"/>
                </a:ext>
              </a:extLst>
            </p:cNvPr>
            <p:cNvSpPr/>
            <p:nvPr/>
          </p:nvSpPr>
          <p:spPr>
            <a:xfrm flipH="1">
              <a:off x="1157511" y="6753225"/>
              <a:ext cx="4808911" cy="1047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</p:spTree>
    <p:extLst>
      <p:ext uri="{BB962C8B-B14F-4D97-AF65-F5344CB8AC3E}">
        <p14:creationId xmlns:p14="http://schemas.microsoft.com/office/powerpoint/2010/main" val="3595708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BECF6-5F45-998A-8B23-81D9DCB56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3A7213-81F1-939D-358C-3F3BD4AA8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AI-Használat a webalkalmazásban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E4BC458C-D212-825D-F8D3-8A1CD501519E}"/>
              </a:ext>
            </a:extLst>
          </p:cNvPr>
          <p:cNvSpPr/>
          <p:nvPr/>
        </p:nvSpPr>
        <p:spPr>
          <a:xfrm>
            <a:off x="485774" y="392906"/>
            <a:ext cx="85725" cy="607218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8A68B816-50C7-ED9D-80FB-15051C5D72AB}"/>
              </a:ext>
            </a:extLst>
          </p:cNvPr>
          <p:cNvGrpSpPr/>
          <p:nvPr/>
        </p:nvGrpSpPr>
        <p:grpSpPr>
          <a:xfrm>
            <a:off x="1287088" y="1952851"/>
            <a:ext cx="4808912" cy="5911170"/>
            <a:chOff x="1157511" y="6753225"/>
            <a:chExt cx="4808912" cy="5911170"/>
          </a:xfrm>
        </p:grpSpPr>
        <p:sp>
          <p:nvSpPr>
            <p:cNvPr id="8" name="Téglalap 7">
              <a:extLst>
                <a:ext uri="{FF2B5EF4-FFF2-40B4-BE49-F238E27FC236}">
                  <a16:creationId xmlns:a16="http://schemas.microsoft.com/office/drawing/2014/main" id="{DDA71FED-24DA-B738-9107-D0C9D5A13D5F}"/>
                </a:ext>
              </a:extLst>
            </p:cNvPr>
            <p:cNvSpPr/>
            <p:nvPr/>
          </p:nvSpPr>
          <p:spPr>
            <a:xfrm>
              <a:off x="1157512" y="6857998"/>
              <a:ext cx="4808911" cy="5806397"/>
            </a:xfrm>
            <a:prstGeom prst="rect">
              <a:avLst/>
            </a:prstGeom>
            <a:solidFill>
              <a:srgbClr val="1716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180000" rIns="360000" bIns="360000" rtlCol="0" anchor="t"/>
            <a:lstStyle/>
            <a:p>
              <a:r>
                <a:rPr lang="hu-HU" sz="2200" dirty="0" smtClean="0"/>
                <a:t>AI-Használat:</a:t>
              </a:r>
              <a:endParaRPr lang="hu-HU" sz="2200" dirty="0"/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 err="1" smtClean="0"/>
                <a:t>Helper-functionok</a:t>
              </a:r>
              <a:r>
                <a:rPr lang="hu-HU" sz="2200" dirty="0" smtClean="0"/>
                <a:t> </a:t>
              </a:r>
              <a:r>
                <a:rPr lang="hu-HU" sz="2200" dirty="0"/>
                <a:t>megírása 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200" dirty="0" smtClean="0"/>
                <a:t>általában kiíratás segítéséhez</a:t>
              </a:r>
              <a:r>
                <a:rPr lang="hu-HU" sz="2200" dirty="0"/>
                <a:t>, </a:t>
              </a:r>
              <a:r>
                <a:rPr lang="hu-HU" sz="2200" dirty="0" smtClean="0"/>
                <a:t>inputellenőr-</a:t>
              </a:r>
              <a:r>
                <a:rPr lang="hu-HU" sz="2200" dirty="0" err="1" smtClean="0"/>
                <a:t>zéshez</a:t>
              </a:r>
              <a:endParaRPr lang="hu-HU" sz="2200" dirty="0"/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 err="1"/>
                <a:t>Bootstrapes</a:t>
              </a:r>
              <a:r>
                <a:rPr lang="hu-HU" sz="2200" dirty="0"/>
                <a:t> színek átírása (CSS)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 err="1"/>
                <a:t>Debuggolás</a:t>
              </a:r>
              <a:endParaRPr lang="hu-HU" sz="2200" dirty="0"/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200" dirty="0" err="1"/>
                <a:t>Winrate</a:t>
              </a:r>
              <a:r>
                <a:rPr lang="hu-HU" sz="2200" dirty="0"/>
                <a:t> </a:t>
              </a:r>
              <a:r>
                <a:rPr lang="hu-HU" sz="2200" dirty="0" err="1"/>
                <a:t>chart</a:t>
              </a:r>
              <a:endParaRPr lang="hu-HU" sz="2200" dirty="0"/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 err="1"/>
                <a:t>Logo</a:t>
              </a:r>
              <a:endParaRPr lang="hu-HU" sz="2200" dirty="0"/>
            </a:p>
          </p:txBody>
        </p:sp>
        <p:sp>
          <p:nvSpPr>
            <p:cNvPr id="11" name="Téglalap 10">
              <a:extLst>
                <a:ext uri="{FF2B5EF4-FFF2-40B4-BE49-F238E27FC236}">
                  <a16:creationId xmlns:a16="http://schemas.microsoft.com/office/drawing/2014/main" id="{849E1061-0618-05EA-2C42-095138786A40}"/>
                </a:ext>
              </a:extLst>
            </p:cNvPr>
            <p:cNvSpPr/>
            <p:nvPr/>
          </p:nvSpPr>
          <p:spPr>
            <a:xfrm flipH="1">
              <a:off x="1157511" y="6753225"/>
              <a:ext cx="4808911" cy="1047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518B3E1A-AFC5-0ACD-D2C0-A99B3D1F0697}"/>
              </a:ext>
            </a:extLst>
          </p:cNvPr>
          <p:cNvGrpSpPr/>
          <p:nvPr/>
        </p:nvGrpSpPr>
        <p:grpSpPr>
          <a:xfrm>
            <a:off x="6694114" y="1952850"/>
            <a:ext cx="4808912" cy="5911171"/>
            <a:chOff x="1157512" y="6753225"/>
            <a:chExt cx="4808912" cy="5911171"/>
          </a:xfrm>
        </p:grpSpPr>
        <p:sp>
          <p:nvSpPr>
            <p:cNvPr id="14" name="Téglalap 13">
              <a:extLst>
                <a:ext uri="{FF2B5EF4-FFF2-40B4-BE49-F238E27FC236}">
                  <a16:creationId xmlns:a16="http://schemas.microsoft.com/office/drawing/2014/main" id="{93CA4BB7-9EAF-466D-3E14-F8DD6CD267B3}"/>
                </a:ext>
              </a:extLst>
            </p:cNvPr>
            <p:cNvSpPr/>
            <p:nvPr/>
          </p:nvSpPr>
          <p:spPr>
            <a:xfrm>
              <a:off x="1157513" y="6857999"/>
              <a:ext cx="4808911" cy="5806397"/>
            </a:xfrm>
            <a:prstGeom prst="rect">
              <a:avLst/>
            </a:prstGeom>
            <a:solidFill>
              <a:srgbClr val="1716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180000" rIns="360000" bIns="360000" rtlCol="0" anchor="t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 err="1"/>
                <a:t>Bootstrap</a:t>
              </a:r>
              <a:r>
                <a:rPr lang="hu-HU" sz="2200" dirty="0"/>
                <a:t> tudás kiegészítése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.is-</a:t>
              </a:r>
              <a:r>
                <a:rPr lang="hu-HU" sz="2200" dirty="0" err="1"/>
                <a:t>invalid</a:t>
              </a:r>
              <a:r>
                <a:rPr lang="hu-HU" sz="2200" dirty="0"/>
                <a:t> (</a:t>
              </a:r>
              <a:r>
                <a:rPr lang="hu-HU" sz="2200" dirty="0" err="1"/>
                <a:t>form</a:t>
              </a:r>
              <a:r>
                <a:rPr lang="hu-HU" sz="2200" dirty="0"/>
                <a:t>)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hu-HU" sz="2200" dirty="0" err="1"/>
                <a:t>Reszponzivitás</a:t>
              </a:r>
              <a:r>
                <a:rPr lang="hu-HU" sz="2200" dirty="0"/>
                <a:t> ismeret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A weboldalon kívül semmilyen más helyen nem használtuk! (PPT, </a:t>
              </a:r>
              <a:r>
                <a:rPr lang="hu-HU" sz="2200" dirty="0" err="1"/>
                <a:t>Figma</a:t>
              </a:r>
              <a:r>
                <a:rPr lang="hu-HU" sz="2200" dirty="0"/>
                <a:t> </a:t>
              </a:r>
              <a:r>
                <a:rPr lang="hu-HU" sz="2200" dirty="0" err="1"/>
                <a:t>stb</a:t>
              </a:r>
              <a:r>
                <a:rPr lang="hu-HU" sz="2200" dirty="0"/>
                <a:t>)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hu-HU" sz="2200" dirty="0"/>
                <a:t>Így tehát a projektnek </a:t>
              </a:r>
              <a:r>
                <a:rPr lang="hu-HU" sz="2200" dirty="0" err="1"/>
                <a:t>mégkevesebb</a:t>
              </a:r>
              <a:r>
                <a:rPr lang="hu-HU" sz="2200" dirty="0"/>
                <a:t> százaléka AI!</a:t>
              </a:r>
            </a:p>
          </p:txBody>
        </p:sp>
        <p:sp>
          <p:nvSpPr>
            <p:cNvPr id="15" name="Téglalap 14">
              <a:extLst>
                <a:ext uri="{FF2B5EF4-FFF2-40B4-BE49-F238E27FC236}">
                  <a16:creationId xmlns:a16="http://schemas.microsoft.com/office/drawing/2014/main" id="{23882A3B-1854-ADA1-FEBB-2DABCD5BEBE8}"/>
                </a:ext>
              </a:extLst>
            </p:cNvPr>
            <p:cNvSpPr/>
            <p:nvPr/>
          </p:nvSpPr>
          <p:spPr>
            <a:xfrm flipH="1">
              <a:off x="1157512" y="6753225"/>
              <a:ext cx="4808911" cy="10477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450494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963DF-849D-CEA5-6092-FD6AD6F08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001874-DEAA-7B8A-0C2F-96B8D5AF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787525"/>
            <a:ext cx="10515600" cy="1325563"/>
          </a:xfrm>
        </p:spPr>
        <p:txBody>
          <a:bodyPr>
            <a:normAutofit/>
          </a:bodyPr>
          <a:lstStyle/>
          <a:p>
            <a:r>
              <a:rPr lang="hu-HU" sz="6000" dirty="0"/>
              <a:t>Egységtesztek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0354CBCC-6B28-C1B7-AF55-A4B3F1B533DF}"/>
              </a:ext>
            </a:extLst>
          </p:cNvPr>
          <p:cNvSpPr/>
          <p:nvPr/>
        </p:nvSpPr>
        <p:spPr>
          <a:xfrm>
            <a:off x="485774" y="392906"/>
            <a:ext cx="85725" cy="607218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877D47AC-6AB1-F792-812C-684ADA286372}"/>
              </a:ext>
            </a:extLst>
          </p:cNvPr>
          <p:cNvGrpSpPr/>
          <p:nvPr/>
        </p:nvGrpSpPr>
        <p:grpSpPr>
          <a:xfrm>
            <a:off x="1287088" y="6742564"/>
            <a:ext cx="4808912" cy="5911170"/>
            <a:chOff x="1157511" y="6753225"/>
            <a:chExt cx="4808912" cy="5911170"/>
          </a:xfrm>
        </p:grpSpPr>
        <p:sp>
          <p:nvSpPr>
            <p:cNvPr id="8" name="Téglalap 7">
              <a:extLst>
                <a:ext uri="{FF2B5EF4-FFF2-40B4-BE49-F238E27FC236}">
                  <a16:creationId xmlns:a16="http://schemas.microsoft.com/office/drawing/2014/main" id="{817ABAA5-36B4-C831-2594-C990F326C833}"/>
                </a:ext>
              </a:extLst>
            </p:cNvPr>
            <p:cNvSpPr/>
            <p:nvPr/>
          </p:nvSpPr>
          <p:spPr>
            <a:xfrm>
              <a:off x="1157512" y="6857998"/>
              <a:ext cx="4808911" cy="5806397"/>
            </a:xfrm>
            <a:prstGeom prst="rect">
              <a:avLst/>
            </a:prstGeom>
            <a:solidFill>
              <a:srgbClr val="1716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180000" rIns="360000" bIns="360000" rtlCol="0" anchor="t"/>
            <a:lstStyle/>
            <a:p>
              <a:r>
                <a:rPr lang="hu-HU" sz="2800" dirty="0"/>
                <a:t>Koppány (Player.js teszt):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Első teszt: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200" dirty="0" err="1"/>
                <a:t>to_string</a:t>
              </a:r>
              <a:r>
                <a:rPr lang="hu-HU" sz="2200" dirty="0"/>
                <a:t>() metódusban a játék objektum került kiírásra a játék címe helyett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Második teszt: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Nincs ellenőrizve, hogy a game változó Game példányt kap-e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Számokat el lehet tárolni a teljes névben</a:t>
              </a:r>
              <a:endParaRPr lang="hu-HU" sz="2200" dirty="0"/>
            </a:p>
          </p:txBody>
        </p:sp>
        <p:sp>
          <p:nvSpPr>
            <p:cNvPr id="11" name="Téglalap 10">
              <a:extLst>
                <a:ext uri="{FF2B5EF4-FFF2-40B4-BE49-F238E27FC236}">
                  <a16:creationId xmlns:a16="http://schemas.microsoft.com/office/drawing/2014/main" id="{D954E6F3-074B-0ADB-ECE7-1E6EB2041F8D}"/>
                </a:ext>
              </a:extLst>
            </p:cNvPr>
            <p:cNvSpPr/>
            <p:nvPr/>
          </p:nvSpPr>
          <p:spPr>
            <a:xfrm flipH="1">
              <a:off x="1157511" y="6753225"/>
              <a:ext cx="4808911" cy="1047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F314CD74-0DA9-C955-F4C5-6EB391B8732A}"/>
              </a:ext>
            </a:extLst>
          </p:cNvPr>
          <p:cNvGrpSpPr/>
          <p:nvPr/>
        </p:nvGrpSpPr>
        <p:grpSpPr>
          <a:xfrm>
            <a:off x="6695474" y="6749595"/>
            <a:ext cx="4808912" cy="5911171"/>
            <a:chOff x="1157512" y="6753225"/>
            <a:chExt cx="4808912" cy="5911171"/>
          </a:xfrm>
        </p:grpSpPr>
        <p:sp>
          <p:nvSpPr>
            <p:cNvPr id="14" name="Téglalap 13">
              <a:extLst>
                <a:ext uri="{FF2B5EF4-FFF2-40B4-BE49-F238E27FC236}">
                  <a16:creationId xmlns:a16="http://schemas.microsoft.com/office/drawing/2014/main" id="{4FDA2A02-DCA6-7176-B16C-1A77AAF322FC}"/>
                </a:ext>
              </a:extLst>
            </p:cNvPr>
            <p:cNvSpPr/>
            <p:nvPr/>
          </p:nvSpPr>
          <p:spPr>
            <a:xfrm>
              <a:off x="1157513" y="6857999"/>
              <a:ext cx="4808911" cy="5806397"/>
            </a:xfrm>
            <a:prstGeom prst="rect">
              <a:avLst/>
            </a:prstGeom>
            <a:solidFill>
              <a:srgbClr val="1716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180000" rIns="360000" bIns="360000" rtlCol="0" anchor="t"/>
            <a:lstStyle/>
            <a:p>
              <a:r>
                <a:rPr lang="hu-HU" sz="2800" dirty="0"/>
                <a:t>Kiss (Game.js teszt):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Első teszt: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200" dirty="0" err="1"/>
                <a:t>Statfelvételnél</a:t>
              </a:r>
              <a:r>
                <a:rPr lang="hu-HU" sz="2200" dirty="0"/>
                <a:t> nem volt ellenőrizve az index, amelyre felvesszük az adatot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Második teszt: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200" dirty="0" err="1"/>
                <a:t>Stat</a:t>
              </a:r>
              <a:r>
                <a:rPr lang="hu-HU" sz="2200" dirty="0"/>
                <a:t> értékadásnál nem volt ellenőrizve, hogy létezik-e a </a:t>
              </a:r>
              <a:r>
                <a:rPr lang="hu-HU" sz="2200" dirty="0" err="1"/>
                <a:t>stat</a:t>
              </a:r>
              <a:endParaRPr lang="hu-HU" sz="2200" dirty="0"/>
            </a:p>
          </p:txBody>
        </p:sp>
        <p:sp>
          <p:nvSpPr>
            <p:cNvPr id="15" name="Téglalap 14">
              <a:extLst>
                <a:ext uri="{FF2B5EF4-FFF2-40B4-BE49-F238E27FC236}">
                  <a16:creationId xmlns:a16="http://schemas.microsoft.com/office/drawing/2014/main" id="{59E4DBEB-2E1E-FB1B-6E6A-9EEAB264F7E5}"/>
                </a:ext>
              </a:extLst>
            </p:cNvPr>
            <p:cNvSpPr/>
            <p:nvPr/>
          </p:nvSpPr>
          <p:spPr>
            <a:xfrm flipH="1">
              <a:off x="1157512" y="6753225"/>
              <a:ext cx="4808911" cy="10477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2852256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8C88F-7F45-70DA-DA72-5859FD641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3574C3-2EFB-39AD-8484-3479B3A1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Egységtesztek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4153C6A4-2B66-BC90-6AC2-979D5D76C895}"/>
              </a:ext>
            </a:extLst>
          </p:cNvPr>
          <p:cNvSpPr/>
          <p:nvPr/>
        </p:nvSpPr>
        <p:spPr>
          <a:xfrm>
            <a:off x="485774" y="392906"/>
            <a:ext cx="85725" cy="607218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0C7796D9-C20C-AAB4-FEDE-0EC7CC29182B}"/>
              </a:ext>
            </a:extLst>
          </p:cNvPr>
          <p:cNvGrpSpPr/>
          <p:nvPr/>
        </p:nvGrpSpPr>
        <p:grpSpPr>
          <a:xfrm>
            <a:off x="1287088" y="1690688"/>
            <a:ext cx="4808912" cy="5911170"/>
            <a:chOff x="1157511" y="6753225"/>
            <a:chExt cx="4808912" cy="5911170"/>
          </a:xfrm>
        </p:grpSpPr>
        <p:sp>
          <p:nvSpPr>
            <p:cNvPr id="8" name="Téglalap 7">
              <a:extLst>
                <a:ext uri="{FF2B5EF4-FFF2-40B4-BE49-F238E27FC236}">
                  <a16:creationId xmlns:a16="http://schemas.microsoft.com/office/drawing/2014/main" id="{D4AF65C3-DEA7-96E6-9592-53DB849E871E}"/>
                </a:ext>
              </a:extLst>
            </p:cNvPr>
            <p:cNvSpPr/>
            <p:nvPr/>
          </p:nvSpPr>
          <p:spPr>
            <a:xfrm>
              <a:off x="1157512" y="6857998"/>
              <a:ext cx="4808911" cy="5806397"/>
            </a:xfrm>
            <a:prstGeom prst="rect">
              <a:avLst/>
            </a:prstGeom>
            <a:solidFill>
              <a:srgbClr val="1716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180000" rIns="360000" bIns="360000" rtlCol="0" anchor="t"/>
            <a:lstStyle/>
            <a:p>
              <a:r>
                <a:rPr lang="hu-HU" sz="2800" dirty="0"/>
                <a:t>Koppány (Player.js teszt):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Első teszt: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200" dirty="0" err="1"/>
                <a:t>to_string</a:t>
              </a:r>
              <a:r>
                <a:rPr lang="hu-HU" sz="2200" dirty="0"/>
                <a:t>() metódusban a játék objektum került kiírásra </a:t>
              </a:r>
              <a:r>
                <a:rPr lang="hu-HU" sz="2200" dirty="0" smtClean="0"/>
                <a:t>a játék címe helyett</a:t>
              </a:r>
              <a:endParaRPr lang="hu-HU" sz="2200" dirty="0"/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Második teszt: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Nincs ellenőrizve, hogy a game változó Game példányt kap-e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200" dirty="0"/>
                <a:t>Számokat el lehet tárolni a teljes névben</a:t>
              </a:r>
            </a:p>
          </p:txBody>
        </p:sp>
        <p:sp>
          <p:nvSpPr>
            <p:cNvPr id="11" name="Téglalap 10">
              <a:extLst>
                <a:ext uri="{FF2B5EF4-FFF2-40B4-BE49-F238E27FC236}">
                  <a16:creationId xmlns:a16="http://schemas.microsoft.com/office/drawing/2014/main" id="{A93EBF30-0BC4-2C7F-99EC-1C3BBF07A4DB}"/>
                </a:ext>
              </a:extLst>
            </p:cNvPr>
            <p:cNvSpPr/>
            <p:nvPr/>
          </p:nvSpPr>
          <p:spPr>
            <a:xfrm flipH="1">
              <a:off x="1157511" y="6753225"/>
              <a:ext cx="4808911" cy="1047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4D2AB843-3F79-8BE1-62DC-D774B2E3726D}"/>
              </a:ext>
            </a:extLst>
          </p:cNvPr>
          <p:cNvGrpSpPr/>
          <p:nvPr/>
        </p:nvGrpSpPr>
        <p:grpSpPr>
          <a:xfrm>
            <a:off x="6544889" y="1690687"/>
            <a:ext cx="4808912" cy="5911171"/>
            <a:chOff x="1157512" y="6753225"/>
            <a:chExt cx="4808912" cy="5911171"/>
          </a:xfrm>
        </p:grpSpPr>
        <p:sp>
          <p:nvSpPr>
            <p:cNvPr id="14" name="Téglalap 13">
              <a:extLst>
                <a:ext uri="{FF2B5EF4-FFF2-40B4-BE49-F238E27FC236}">
                  <a16:creationId xmlns:a16="http://schemas.microsoft.com/office/drawing/2014/main" id="{D7AD1B3E-B680-EF1C-7457-1001E7C3204C}"/>
                </a:ext>
              </a:extLst>
            </p:cNvPr>
            <p:cNvSpPr/>
            <p:nvPr/>
          </p:nvSpPr>
          <p:spPr>
            <a:xfrm>
              <a:off x="1157513" y="6857999"/>
              <a:ext cx="4808911" cy="5806397"/>
            </a:xfrm>
            <a:prstGeom prst="rect">
              <a:avLst/>
            </a:prstGeom>
            <a:solidFill>
              <a:srgbClr val="1716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180000" rIns="360000" bIns="360000" rtlCol="0" anchor="t"/>
            <a:lstStyle/>
            <a:p>
              <a:r>
                <a:rPr lang="hu-HU" sz="2800" dirty="0"/>
                <a:t>Kiss (Game.js teszt):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400" dirty="0"/>
                <a:t>Első teszt: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400" dirty="0" err="1"/>
                <a:t>Statfelvételnél</a:t>
              </a:r>
              <a:r>
                <a:rPr lang="hu-HU" sz="2400" dirty="0"/>
                <a:t> nem volt ellenőrizve az index, amelyre felvesszük az adatot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400" dirty="0"/>
                <a:t>Második teszt: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400" dirty="0" err="1"/>
                <a:t>Stat</a:t>
              </a:r>
              <a:r>
                <a:rPr lang="hu-HU" sz="2400" dirty="0"/>
                <a:t> értékadásnál nem volt ellenőrizve, hogy létezik-e a </a:t>
              </a:r>
              <a:r>
                <a:rPr lang="hu-HU" sz="2400" dirty="0" err="1"/>
                <a:t>stat</a:t>
              </a:r>
              <a:endParaRPr lang="hu-HU" sz="2400" dirty="0"/>
            </a:p>
          </p:txBody>
        </p:sp>
        <p:sp>
          <p:nvSpPr>
            <p:cNvPr id="15" name="Téglalap 14">
              <a:extLst>
                <a:ext uri="{FF2B5EF4-FFF2-40B4-BE49-F238E27FC236}">
                  <a16:creationId xmlns:a16="http://schemas.microsoft.com/office/drawing/2014/main" id="{B05DFD36-AD6A-068A-4956-95CFF3097488}"/>
                </a:ext>
              </a:extLst>
            </p:cNvPr>
            <p:cNvSpPr/>
            <p:nvPr/>
          </p:nvSpPr>
          <p:spPr>
            <a:xfrm flipH="1">
              <a:off x="1157512" y="6753225"/>
              <a:ext cx="4808911" cy="10477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2C7ED200-15CF-03CC-DAE1-2179567BB9CF}"/>
              </a:ext>
            </a:extLst>
          </p:cNvPr>
          <p:cNvGrpSpPr/>
          <p:nvPr/>
        </p:nvGrpSpPr>
        <p:grpSpPr>
          <a:xfrm>
            <a:off x="12069388" y="1690687"/>
            <a:ext cx="10019488" cy="4221165"/>
            <a:chOff x="12069388" y="1690687"/>
            <a:chExt cx="10019488" cy="4221165"/>
          </a:xfrm>
        </p:grpSpPr>
        <p:grpSp>
          <p:nvGrpSpPr>
            <p:cNvPr id="17" name="Csoportba foglalás 16">
              <a:extLst>
                <a:ext uri="{FF2B5EF4-FFF2-40B4-BE49-F238E27FC236}">
                  <a16:creationId xmlns:a16="http://schemas.microsoft.com/office/drawing/2014/main" id="{13C55887-EBB4-BE3B-D43D-A14E377C4429}"/>
                </a:ext>
              </a:extLst>
            </p:cNvPr>
            <p:cNvGrpSpPr/>
            <p:nvPr/>
          </p:nvGrpSpPr>
          <p:grpSpPr>
            <a:xfrm>
              <a:off x="12069388" y="1690687"/>
              <a:ext cx="10019488" cy="4221165"/>
              <a:chOff x="1118199" y="6857999"/>
              <a:chExt cx="10019488" cy="5806397"/>
            </a:xfrm>
          </p:grpSpPr>
          <p:sp>
            <p:nvSpPr>
              <p:cNvPr id="19" name="Téglalap 18">
                <a:extLst>
                  <a:ext uri="{FF2B5EF4-FFF2-40B4-BE49-F238E27FC236}">
                    <a16:creationId xmlns:a16="http://schemas.microsoft.com/office/drawing/2014/main" id="{CBFADC62-D97B-6677-39E4-0FDD5403B70E}"/>
                  </a:ext>
                </a:extLst>
              </p:cNvPr>
              <p:cNvSpPr/>
              <p:nvPr/>
            </p:nvSpPr>
            <p:spPr>
              <a:xfrm>
                <a:off x="1157513" y="6857999"/>
                <a:ext cx="9980174" cy="5806397"/>
              </a:xfrm>
              <a:prstGeom prst="rect">
                <a:avLst/>
              </a:prstGeom>
              <a:solidFill>
                <a:srgbClr val="17161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0" tIns="180000" rIns="360000" bIns="360000" rtlCol="0" anchor="t"/>
              <a:lstStyle/>
              <a:p>
                <a:r>
                  <a:rPr lang="hu-HU" sz="2800" dirty="0"/>
                  <a:t>Funkciók – Teljesítve</a:t>
                </a:r>
              </a:p>
              <a:p>
                <a:r>
                  <a:rPr lang="hu-HU" sz="2800" dirty="0"/>
                  <a:t>GitHub, </a:t>
                </a:r>
                <a:r>
                  <a:rPr lang="hu-HU" sz="2800" dirty="0" err="1"/>
                  <a:t>Trello</a:t>
                </a:r>
                <a:r>
                  <a:rPr lang="hu-HU" sz="2800" dirty="0"/>
                  <a:t>, </a:t>
                </a:r>
                <a:r>
                  <a:rPr lang="hu-HU" sz="2800" dirty="0" err="1"/>
                  <a:t>Figma</a:t>
                </a:r>
                <a:r>
                  <a:rPr lang="hu-HU" sz="2800" dirty="0"/>
                  <a:t> helyes használata - Teljesítve</a:t>
                </a:r>
              </a:p>
              <a:p>
                <a:r>
                  <a:rPr lang="hu-HU" sz="2800" dirty="0"/>
                  <a:t>Felhasznált eszközök – Claude, </a:t>
                </a:r>
                <a:r>
                  <a:rPr lang="hu-HU" sz="2800" dirty="0" err="1"/>
                  <a:t>DeepSeek</a:t>
                </a:r>
                <a:endParaRPr lang="hu-HU" sz="2800" dirty="0"/>
              </a:p>
              <a:p>
                <a:r>
                  <a:rPr lang="hu-HU" sz="2800" dirty="0"/>
                  <a:t>Kidolgozott grafika - Teljesítve</a:t>
                </a:r>
              </a:p>
              <a:p>
                <a:endParaRPr lang="hu-HU" sz="2800" dirty="0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50485AD6-234E-64C3-0AAC-F30BD71128D3}"/>
                  </a:ext>
                </a:extLst>
              </p:cNvPr>
              <p:cNvSpPr/>
              <p:nvPr/>
            </p:nvSpPr>
            <p:spPr>
              <a:xfrm flipH="1">
                <a:off x="1118199" y="6857999"/>
                <a:ext cx="122195" cy="5806397"/>
              </a:xfrm>
              <a:prstGeom prst="rect">
                <a:avLst/>
              </a:prstGeom>
              <a:solidFill>
                <a:srgbClr val="F4F4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pic>
          <p:nvPicPr>
            <p:cNvPr id="18" name="Kép 17">
              <a:extLst>
                <a:ext uri="{FF2B5EF4-FFF2-40B4-BE49-F238E27FC236}">
                  <a16:creationId xmlns:a16="http://schemas.microsoft.com/office/drawing/2014/main" id="{C9257663-AA16-5BEF-8842-79A78E92E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95731" y="3801269"/>
              <a:ext cx="7888997" cy="1855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41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F6089-C460-5F6D-E9F0-1D4BE4643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B77486E-B739-EFA3-FFF3-9B8C8AB7E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112885"/>
            <a:ext cx="10515600" cy="1325563"/>
          </a:xfrm>
        </p:spPr>
        <p:txBody>
          <a:bodyPr>
            <a:normAutofit/>
          </a:bodyPr>
          <a:lstStyle/>
          <a:p>
            <a:r>
              <a:rPr lang="hu-HU" sz="6000" dirty="0"/>
              <a:t>Összegzés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8CC0C3A5-6835-C293-2BCE-E6C6F4515397}"/>
              </a:ext>
            </a:extLst>
          </p:cNvPr>
          <p:cNvSpPr/>
          <p:nvPr/>
        </p:nvSpPr>
        <p:spPr>
          <a:xfrm>
            <a:off x="485774" y="392906"/>
            <a:ext cx="85725" cy="6072188"/>
          </a:xfrm>
          <a:prstGeom prst="rect">
            <a:avLst/>
          </a:prstGeom>
          <a:solidFill>
            <a:srgbClr val="F4F4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E18E63DA-915F-223E-D3EB-91F5181B0B57}"/>
              </a:ext>
            </a:extLst>
          </p:cNvPr>
          <p:cNvGrpSpPr/>
          <p:nvPr/>
        </p:nvGrpSpPr>
        <p:grpSpPr>
          <a:xfrm>
            <a:off x="1287088" y="7552235"/>
            <a:ext cx="4808912" cy="5911170"/>
            <a:chOff x="1157511" y="6753225"/>
            <a:chExt cx="4808912" cy="5911170"/>
          </a:xfrm>
        </p:grpSpPr>
        <p:sp>
          <p:nvSpPr>
            <p:cNvPr id="8" name="Téglalap 7">
              <a:extLst>
                <a:ext uri="{FF2B5EF4-FFF2-40B4-BE49-F238E27FC236}">
                  <a16:creationId xmlns:a16="http://schemas.microsoft.com/office/drawing/2014/main" id="{2931EC86-0611-69AE-67FD-7E2801659E97}"/>
                </a:ext>
              </a:extLst>
            </p:cNvPr>
            <p:cNvSpPr/>
            <p:nvPr/>
          </p:nvSpPr>
          <p:spPr>
            <a:xfrm>
              <a:off x="1157512" y="6857998"/>
              <a:ext cx="4808911" cy="5806397"/>
            </a:xfrm>
            <a:prstGeom prst="rect">
              <a:avLst/>
            </a:prstGeom>
            <a:solidFill>
              <a:srgbClr val="1716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180000" rIns="360000" bIns="360000" rtlCol="0" anchor="t"/>
            <a:lstStyle/>
            <a:p>
              <a:r>
                <a:rPr lang="hu-HU" sz="2800" dirty="0"/>
                <a:t>Koppány (Player.js teszt):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400" dirty="0"/>
                <a:t>Első teszt: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400" dirty="0" err="1"/>
                <a:t>to_string</a:t>
              </a:r>
              <a:r>
                <a:rPr lang="hu-HU" sz="2400" dirty="0"/>
                <a:t>() metódusban a játék objektum került kiírásra a .</a:t>
              </a:r>
              <a:r>
                <a:rPr lang="hu-HU" sz="2400" dirty="0" err="1"/>
                <a:t>get_name</a:t>
              </a:r>
              <a:r>
                <a:rPr lang="hu-HU" sz="2400" dirty="0"/>
                <a:t>() helyett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400" dirty="0"/>
                <a:t>Második teszt: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400" dirty="0"/>
                <a:t>Nincs ellenőrizve, hogy a game változó Game példányt kap-e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400" dirty="0"/>
                <a:t>Számokat el lehet tárolni a teljes névben</a:t>
              </a:r>
            </a:p>
          </p:txBody>
        </p:sp>
        <p:sp>
          <p:nvSpPr>
            <p:cNvPr id="11" name="Téglalap 10">
              <a:extLst>
                <a:ext uri="{FF2B5EF4-FFF2-40B4-BE49-F238E27FC236}">
                  <a16:creationId xmlns:a16="http://schemas.microsoft.com/office/drawing/2014/main" id="{A2287820-6B73-879C-A6B6-8C8CDFBC2086}"/>
                </a:ext>
              </a:extLst>
            </p:cNvPr>
            <p:cNvSpPr/>
            <p:nvPr/>
          </p:nvSpPr>
          <p:spPr>
            <a:xfrm flipH="1">
              <a:off x="1157511" y="6753225"/>
              <a:ext cx="4808911" cy="1047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E1BE6ACB-07AA-E1F9-0594-0422530273D3}"/>
              </a:ext>
            </a:extLst>
          </p:cNvPr>
          <p:cNvGrpSpPr/>
          <p:nvPr/>
        </p:nvGrpSpPr>
        <p:grpSpPr>
          <a:xfrm>
            <a:off x="6544888" y="7604620"/>
            <a:ext cx="4808912" cy="5911171"/>
            <a:chOff x="1157512" y="6753225"/>
            <a:chExt cx="4808912" cy="5911171"/>
          </a:xfrm>
        </p:grpSpPr>
        <p:sp>
          <p:nvSpPr>
            <p:cNvPr id="14" name="Téglalap 13">
              <a:extLst>
                <a:ext uri="{FF2B5EF4-FFF2-40B4-BE49-F238E27FC236}">
                  <a16:creationId xmlns:a16="http://schemas.microsoft.com/office/drawing/2014/main" id="{B449D5D1-903E-F008-DA4C-437A91F6FEFA}"/>
                </a:ext>
              </a:extLst>
            </p:cNvPr>
            <p:cNvSpPr/>
            <p:nvPr/>
          </p:nvSpPr>
          <p:spPr>
            <a:xfrm>
              <a:off x="1157513" y="6857999"/>
              <a:ext cx="4808911" cy="5806397"/>
            </a:xfrm>
            <a:prstGeom prst="rect">
              <a:avLst/>
            </a:prstGeom>
            <a:solidFill>
              <a:srgbClr val="1716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180000" rIns="360000" bIns="360000" rtlCol="0" anchor="t"/>
            <a:lstStyle/>
            <a:p>
              <a:r>
                <a:rPr lang="hu-HU" sz="2800" dirty="0"/>
                <a:t>Kiss (Game.js teszt):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400" dirty="0"/>
                <a:t>Első teszt: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400" dirty="0" err="1"/>
                <a:t>Statfelvételnél</a:t>
              </a:r>
              <a:r>
                <a:rPr lang="hu-HU" sz="2400" dirty="0"/>
                <a:t> nem volt ellenőrizve az index, amelyre felvesszük az adatot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400" dirty="0"/>
                <a:t>Második teszt: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400" dirty="0" err="1"/>
                <a:t>Stat</a:t>
              </a:r>
              <a:r>
                <a:rPr lang="hu-HU" sz="2400" dirty="0"/>
                <a:t> értékadásnál nem volt ellenőrizve, hogy létezik-e a </a:t>
              </a:r>
              <a:r>
                <a:rPr lang="hu-HU" sz="2400" dirty="0" err="1"/>
                <a:t>stat</a:t>
              </a:r>
              <a:endParaRPr lang="hu-HU" sz="2400" dirty="0"/>
            </a:p>
          </p:txBody>
        </p:sp>
        <p:sp>
          <p:nvSpPr>
            <p:cNvPr id="15" name="Téglalap 14">
              <a:extLst>
                <a:ext uri="{FF2B5EF4-FFF2-40B4-BE49-F238E27FC236}">
                  <a16:creationId xmlns:a16="http://schemas.microsoft.com/office/drawing/2014/main" id="{2B55A6FC-A4BE-33B7-BCE7-D20D5FAA5CAD}"/>
                </a:ext>
              </a:extLst>
            </p:cNvPr>
            <p:cNvSpPr/>
            <p:nvPr/>
          </p:nvSpPr>
          <p:spPr>
            <a:xfrm flipH="1">
              <a:off x="1157512" y="6753225"/>
              <a:ext cx="4808911" cy="10477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540B5CB6-E894-CDE7-C329-D8198A7D44C9}"/>
              </a:ext>
            </a:extLst>
          </p:cNvPr>
          <p:cNvGrpSpPr/>
          <p:nvPr/>
        </p:nvGrpSpPr>
        <p:grpSpPr>
          <a:xfrm>
            <a:off x="12069388" y="1690687"/>
            <a:ext cx="10019488" cy="4221165"/>
            <a:chOff x="12069388" y="1690687"/>
            <a:chExt cx="10019488" cy="42211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EC9A784B-CF8C-834B-8D65-AD836DB40B05}"/>
                </a:ext>
              </a:extLst>
            </p:cNvPr>
            <p:cNvGrpSpPr/>
            <p:nvPr/>
          </p:nvGrpSpPr>
          <p:grpSpPr>
            <a:xfrm>
              <a:off x="12069388" y="1690687"/>
              <a:ext cx="10019488" cy="4221165"/>
              <a:chOff x="1118199" y="6857999"/>
              <a:chExt cx="10019488" cy="5806397"/>
            </a:xfrm>
          </p:grpSpPr>
          <p:sp>
            <p:nvSpPr>
              <p:cNvPr id="7" name="Téglalap 6">
                <a:extLst>
                  <a:ext uri="{FF2B5EF4-FFF2-40B4-BE49-F238E27FC236}">
                    <a16:creationId xmlns:a16="http://schemas.microsoft.com/office/drawing/2014/main" id="{2747D770-EA42-CECD-106E-9411B354DE9E}"/>
                  </a:ext>
                </a:extLst>
              </p:cNvPr>
              <p:cNvSpPr/>
              <p:nvPr/>
            </p:nvSpPr>
            <p:spPr>
              <a:xfrm>
                <a:off x="1157513" y="6857999"/>
                <a:ext cx="9980174" cy="5806397"/>
              </a:xfrm>
              <a:prstGeom prst="rect">
                <a:avLst/>
              </a:prstGeom>
              <a:solidFill>
                <a:srgbClr val="17161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0" tIns="180000" rIns="360000" bIns="360000" rtlCol="0" anchor="t"/>
              <a:lstStyle/>
              <a:p>
                <a:r>
                  <a:rPr lang="hu-HU" sz="2400" dirty="0"/>
                  <a:t>Funkciók – Teljesítve</a:t>
                </a:r>
              </a:p>
              <a:p>
                <a:r>
                  <a:rPr lang="hu-HU" sz="2400" dirty="0"/>
                  <a:t>GitHub, </a:t>
                </a:r>
                <a:r>
                  <a:rPr lang="hu-HU" sz="2400" dirty="0" err="1"/>
                  <a:t>Trello</a:t>
                </a:r>
                <a:r>
                  <a:rPr lang="hu-HU" sz="2400" dirty="0"/>
                  <a:t>, </a:t>
                </a:r>
                <a:r>
                  <a:rPr lang="hu-HU" sz="2400" dirty="0" err="1"/>
                  <a:t>Figma</a:t>
                </a:r>
                <a:r>
                  <a:rPr lang="hu-HU" sz="2400" dirty="0"/>
                  <a:t> helyes használata - Teljesítve</a:t>
                </a:r>
              </a:p>
              <a:p>
                <a:r>
                  <a:rPr lang="hu-HU" sz="2400" dirty="0"/>
                  <a:t>Felhasznált eszközök – Claude, </a:t>
                </a:r>
                <a:r>
                  <a:rPr lang="hu-HU" sz="2400" dirty="0" err="1"/>
                  <a:t>DeepSeek</a:t>
                </a:r>
                <a:endParaRPr lang="hu-HU" sz="2400" dirty="0"/>
              </a:p>
              <a:p>
                <a:r>
                  <a:rPr lang="hu-HU" sz="2400" dirty="0"/>
                  <a:t>Kidolgozott grafika - Teljesítve</a:t>
                </a:r>
              </a:p>
              <a:p>
                <a:endParaRPr lang="hu-HU" sz="2800" dirty="0"/>
              </a:p>
            </p:txBody>
          </p:sp>
          <p:sp>
            <p:nvSpPr>
              <p:cNvPr id="9" name="Téglalap 8">
                <a:extLst>
                  <a:ext uri="{FF2B5EF4-FFF2-40B4-BE49-F238E27FC236}">
                    <a16:creationId xmlns:a16="http://schemas.microsoft.com/office/drawing/2014/main" id="{D8B32A61-3BC6-5114-3C35-81AB36535CA7}"/>
                  </a:ext>
                </a:extLst>
              </p:cNvPr>
              <p:cNvSpPr/>
              <p:nvPr/>
            </p:nvSpPr>
            <p:spPr>
              <a:xfrm flipH="1">
                <a:off x="1118199" y="6857999"/>
                <a:ext cx="122195" cy="5806397"/>
              </a:xfrm>
              <a:prstGeom prst="rect">
                <a:avLst/>
              </a:prstGeom>
              <a:solidFill>
                <a:srgbClr val="F4F4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pic>
          <p:nvPicPr>
            <p:cNvPr id="16" name="Kép 15">
              <a:extLst>
                <a:ext uri="{FF2B5EF4-FFF2-40B4-BE49-F238E27FC236}">
                  <a16:creationId xmlns:a16="http://schemas.microsoft.com/office/drawing/2014/main" id="{5EA7B6BB-442E-1949-2E5E-256CB3DFC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95731" y="3801269"/>
              <a:ext cx="7888997" cy="1855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702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8BEEB-AF26-C156-45F6-0756B6C73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9D79454-6194-1A87-CF4A-C4784EB7A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72660"/>
            <a:ext cx="10515600" cy="1325563"/>
          </a:xfrm>
        </p:spPr>
        <p:txBody>
          <a:bodyPr>
            <a:normAutofit/>
          </a:bodyPr>
          <a:lstStyle/>
          <a:p>
            <a:r>
              <a:rPr lang="hu-HU" dirty="0"/>
              <a:t>Összegzés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695C2482-4AA7-C895-6A8B-5F0E385BDDFB}"/>
              </a:ext>
            </a:extLst>
          </p:cNvPr>
          <p:cNvSpPr/>
          <p:nvPr/>
        </p:nvSpPr>
        <p:spPr>
          <a:xfrm>
            <a:off x="485774" y="392906"/>
            <a:ext cx="85725" cy="6072188"/>
          </a:xfrm>
          <a:prstGeom prst="rect">
            <a:avLst/>
          </a:prstGeom>
          <a:solidFill>
            <a:srgbClr val="F4F4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C2DADC4B-D52C-815F-3CD5-4FF008DB91DE}"/>
              </a:ext>
            </a:extLst>
          </p:cNvPr>
          <p:cNvGrpSpPr/>
          <p:nvPr/>
        </p:nvGrpSpPr>
        <p:grpSpPr>
          <a:xfrm>
            <a:off x="1287088" y="7552235"/>
            <a:ext cx="4808912" cy="5911170"/>
            <a:chOff x="1157511" y="6753225"/>
            <a:chExt cx="4808912" cy="5911170"/>
          </a:xfrm>
        </p:grpSpPr>
        <p:sp>
          <p:nvSpPr>
            <p:cNvPr id="8" name="Téglalap 7">
              <a:extLst>
                <a:ext uri="{FF2B5EF4-FFF2-40B4-BE49-F238E27FC236}">
                  <a16:creationId xmlns:a16="http://schemas.microsoft.com/office/drawing/2014/main" id="{D27AB239-A26F-3B38-E251-CA35401A81AF}"/>
                </a:ext>
              </a:extLst>
            </p:cNvPr>
            <p:cNvSpPr/>
            <p:nvPr/>
          </p:nvSpPr>
          <p:spPr>
            <a:xfrm>
              <a:off x="1157512" y="6857998"/>
              <a:ext cx="4808911" cy="5806397"/>
            </a:xfrm>
            <a:prstGeom prst="rect">
              <a:avLst/>
            </a:prstGeom>
            <a:solidFill>
              <a:srgbClr val="1716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180000" rIns="360000" bIns="360000" rtlCol="0" anchor="t"/>
            <a:lstStyle/>
            <a:p>
              <a:r>
                <a:rPr lang="hu-HU" sz="2800" dirty="0"/>
                <a:t>Koppány (Player.js teszt):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400" dirty="0"/>
                <a:t>Első teszt: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400" dirty="0" err="1"/>
                <a:t>to_string</a:t>
              </a:r>
              <a:r>
                <a:rPr lang="hu-HU" sz="2400" dirty="0"/>
                <a:t>() metódusban a játék objektum került kiírásra a .</a:t>
              </a:r>
              <a:r>
                <a:rPr lang="hu-HU" sz="2400" dirty="0" err="1"/>
                <a:t>get_name</a:t>
              </a:r>
              <a:r>
                <a:rPr lang="hu-HU" sz="2400" dirty="0"/>
                <a:t>() helyett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400" dirty="0"/>
                <a:t>Második teszt: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400" dirty="0"/>
                <a:t>Nincs ellenőrizve, hogy a game változó Game példányt kap-e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400" dirty="0"/>
                <a:t>Számokat el lehet tárolni a teljes névben</a:t>
              </a:r>
            </a:p>
          </p:txBody>
        </p:sp>
        <p:sp>
          <p:nvSpPr>
            <p:cNvPr id="11" name="Téglalap 10">
              <a:extLst>
                <a:ext uri="{FF2B5EF4-FFF2-40B4-BE49-F238E27FC236}">
                  <a16:creationId xmlns:a16="http://schemas.microsoft.com/office/drawing/2014/main" id="{67770348-4186-59E4-C632-5DF94A593E7A}"/>
                </a:ext>
              </a:extLst>
            </p:cNvPr>
            <p:cNvSpPr/>
            <p:nvPr/>
          </p:nvSpPr>
          <p:spPr>
            <a:xfrm flipH="1">
              <a:off x="1157511" y="6753225"/>
              <a:ext cx="4808911" cy="10477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EFECA511-70C5-C40B-F8A5-86CC88C396B3}"/>
              </a:ext>
            </a:extLst>
          </p:cNvPr>
          <p:cNvGrpSpPr/>
          <p:nvPr/>
        </p:nvGrpSpPr>
        <p:grpSpPr>
          <a:xfrm>
            <a:off x="6544888" y="7604620"/>
            <a:ext cx="4808912" cy="5911171"/>
            <a:chOff x="1157512" y="6753225"/>
            <a:chExt cx="4808912" cy="5911171"/>
          </a:xfrm>
        </p:grpSpPr>
        <p:sp>
          <p:nvSpPr>
            <p:cNvPr id="14" name="Téglalap 13">
              <a:extLst>
                <a:ext uri="{FF2B5EF4-FFF2-40B4-BE49-F238E27FC236}">
                  <a16:creationId xmlns:a16="http://schemas.microsoft.com/office/drawing/2014/main" id="{D62DEC95-8C20-9957-C4D6-7C731099F4DE}"/>
                </a:ext>
              </a:extLst>
            </p:cNvPr>
            <p:cNvSpPr/>
            <p:nvPr/>
          </p:nvSpPr>
          <p:spPr>
            <a:xfrm>
              <a:off x="1157513" y="6857999"/>
              <a:ext cx="4808911" cy="5806397"/>
            </a:xfrm>
            <a:prstGeom prst="rect">
              <a:avLst/>
            </a:prstGeom>
            <a:solidFill>
              <a:srgbClr val="1716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180000" rIns="360000" bIns="360000" rtlCol="0" anchor="t"/>
            <a:lstStyle/>
            <a:p>
              <a:r>
                <a:rPr lang="hu-HU" sz="2800" dirty="0"/>
                <a:t>Kiss (Game.js teszt):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400" dirty="0"/>
                <a:t>Első teszt: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400" dirty="0" err="1"/>
                <a:t>Statfelvételnél</a:t>
              </a:r>
              <a:r>
                <a:rPr lang="hu-HU" sz="2400" dirty="0"/>
                <a:t> nem volt ellenőrizve az index, amelyre felvesszük az adatot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hu-HU" sz="2400" dirty="0"/>
                <a:t>Második teszt: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hu-HU" sz="2400" dirty="0" err="1"/>
                <a:t>Stat</a:t>
              </a:r>
              <a:r>
                <a:rPr lang="hu-HU" sz="2400" dirty="0"/>
                <a:t> értékadásnál nem volt ellenőrizve, hogy létezik-e a </a:t>
              </a:r>
              <a:r>
                <a:rPr lang="hu-HU" sz="2400" dirty="0" err="1"/>
                <a:t>stat</a:t>
              </a:r>
              <a:endParaRPr lang="hu-HU" sz="2400" dirty="0"/>
            </a:p>
          </p:txBody>
        </p:sp>
        <p:sp>
          <p:nvSpPr>
            <p:cNvPr id="15" name="Téglalap 14">
              <a:extLst>
                <a:ext uri="{FF2B5EF4-FFF2-40B4-BE49-F238E27FC236}">
                  <a16:creationId xmlns:a16="http://schemas.microsoft.com/office/drawing/2014/main" id="{367C0030-F997-4DB9-5C3A-D3F0E62CE452}"/>
                </a:ext>
              </a:extLst>
            </p:cNvPr>
            <p:cNvSpPr/>
            <p:nvPr/>
          </p:nvSpPr>
          <p:spPr>
            <a:xfrm flipH="1">
              <a:off x="1157512" y="6753225"/>
              <a:ext cx="4808911" cy="10477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1" name="Csoportba foglalás 20">
            <a:extLst>
              <a:ext uri="{FF2B5EF4-FFF2-40B4-BE49-F238E27FC236}">
                <a16:creationId xmlns:a16="http://schemas.microsoft.com/office/drawing/2014/main" id="{40C32845-62CB-C0B5-91E6-4044274AA736}"/>
              </a:ext>
            </a:extLst>
          </p:cNvPr>
          <p:cNvGrpSpPr/>
          <p:nvPr/>
        </p:nvGrpSpPr>
        <p:grpSpPr>
          <a:xfrm>
            <a:off x="2831045" y="1690686"/>
            <a:ext cx="10019488" cy="4221165"/>
            <a:chOff x="12069388" y="1690687"/>
            <a:chExt cx="10019488" cy="4221165"/>
          </a:xfrm>
        </p:grpSpPr>
        <p:grpSp>
          <p:nvGrpSpPr>
            <p:cNvPr id="22" name="Csoportba foglalás 21">
              <a:extLst>
                <a:ext uri="{FF2B5EF4-FFF2-40B4-BE49-F238E27FC236}">
                  <a16:creationId xmlns:a16="http://schemas.microsoft.com/office/drawing/2014/main" id="{23DCC70E-35EE-94A4-4602-314E447BF18F}"/>
                </a:ext>
              </a:extLst>
            </p:cNvPr>
            <p:cNvGrpSpPr/>
            <p:nvPr/>
          </p:nvGrpSpPr>
          <p:grpSpPr>
            <a:xfrm>
              <a:off x="12069388" y="1690687"/>
              <a:ext cx="10019488" cy="4221165"/>
              <a:chOff x="1118199" y="6857999"/>
              <a:chExt cx="10019488" cy="5806397"/>
            </a:xfrm>
          </p:grpSpPr>
          <p:sp>
            <p:nvSpPr>
              <p:cNvPr id="24" name="Téglalap 23">
                <a:extLst>
                  <a:ext uri="{FF2B5EF4-FFF2-40B4-BE49-F238E27FC236}">
                    <a16:creationId xmlns:a16="http://schemas.microsoft.com/office/drawing/2014/main" id="{10405697-EE34-59FF-E2FF-3A562A29F94A}"/>
                  </a:ext>
                </a:extLst>
              </p:cNvPr>
              <p:cNvSpPr/>
              <p:nvPr/>
            </p:nvSpPr>
            <p:spPr>
              <a:xfrm>
                <a:off x="1157513" y="6857999"/>
                <a:ext cx="9980174" cy="5806397"/>
              </a:xfrm>
              <a:prstGeom prst="rect">
                <a:avLst/>
              </a:prstGeom>
              <a:solidFill>
                <a:srgbClr val="17161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0" tIns="180000" rIns="360000" bIns="360000" rtlCol="0" anchor="t"/>
              <a:lstStyle/>
              <a:p>
                <a:r>
                  <a:rPr lang="hu-HU" sz="2400" dirty="0"/>
                  <a:t>Funkciók – Teljesítve</a:t>
                </a:r>
              </a:p>
              <a:p>
                <a:r>
                  <a:rPr lang="hu-HU" sz="2400" dirty="0"/>
                  <a:t>GitHub, </a:t>
                </a:r>
                <a:r>
                  <a:rPr lang="hu-HU" sz="2400" dirty="0" err="1"/>
                  <a:t>Trello</a:t>
                </a:r>
                <a:r>
                  <a:rPr lang="hu-HU" sz="2400" dirty="0"/>
                  <a:t>, </a:t>
                </a:r>
                <a:r>
                  <a:rPr lang="hu-HU" sz="2400" dirty="0" err="1"/>
                  <a:t>Figma</a:t>
                </a:r>
                <a:r>
                  <a:rPr lang="hu-HU" sz="2400" dirty="0"/>
                  <a:t> helyes használata - Teljesítve</a:t>
                </a:r>
              </a:p>
              <a:p>
                <a:r>
                  <a:rPr lang="hu-HU" sz="2400" dirty="0"/>
                  <a:t>Felhasznált eszközök – Claude, </a:t>
                </a:r>
                <a:r>
                  <a:rPr lang="hu-HU" sz="2400" dirty="0" err="1"/>
                  <a:t>DeepSeek</a:t>
                </a:r>
                <a:endParaRPr lang="hu-HU" sz="2400" dirty="0"/>
              </a:p>
              <a:p>
                <a:r>
                  <a:rPr lang="hu-HU" sz="2400" dirty="0"/>
                  <a:t>Kidolgozott grafika - Teljesítve</a:t>
                </a:r>
              </a:p>
              <a:p>
                <a:endParaRPr lang="hu-HU" sz="2800" dirty="0"/>
              </a:p>
            </p:txBody>
          </p:sp>
          <p:sp>
            <p:nvSpPr>
              <p:cNvPr id="25" name="Téglalap 24">
                <a:extLst>
                  <a:ext uri="{FF2B5EF4-FFF2-40B4-BE49-F238E27FC236}">
                    <a16:creationId xmlns:a16="http://schemas.microsoft.com/office/drawing/2014/main" id="{FC4F3211-196B-82C2-484A-2DEF0E9C60BA}"/>
                  </a:ext>
                </a:extLst>
              </p:cNvPr>
              <p:cNvSpPr/>
              <p:nvPr/>
            </p:nvSpPr>
            <p:spPr>
              <a:xfrm flipH="1">
                <a:off x="1118199" y="6857999"/>
                <a:ext cx="122195" cy="5806397"/>
              </a:xfrm>
              <a:prstGeom prst="rect">
                <a:avLst/>
              </a:prstGeom>
              <a:solidFill>
                <a:srgbClr val="F4F4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pic>
          <p:nvPicPr>
            <p:cNvPr id="23" name="Kép 22">
              <a:extLst>
                <a:ext uri="{FF2B5EF4-FFF2-40B4-BE49-F238E27FC236}">
                  <a16:creationId xmlns:a16="http://schemas.microsoft.com/office/drawing/2014/main" id="{41EB2363-2EE3-0C53-1C91-8969C27CE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95731" y="3801269"/>
              <a:ext cx="7888997" cy="1855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7328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6E90-D39E-94D1-9C2A-03C7385C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5BD32E-93C3-6CAD-C2AC-2FD03B7A35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Köszönjük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BECA938-5E42-71C6-049E-92ACDAAE3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74495"/>
            <a:ext cx="9144000" cy="1655762"/>
          </a:xfrm>
        </p:spPr>
        <p:txBody>
          <a:bodyPr/>
          <a:lstStyle/>
          <a:p>
            <a:r>
              <a:rPr lang="hu-HU" dirty="0"/>
              <a:t>Készítette: Koppány Balázs, Kiss Bálint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6624AE79-9F75-62F3-E7D0-319455DF6C0A}"/>
              </a:ext>
            </a:extLst>
          </p:cNvPr>
          <p:cNvSpPr/>
          <p:nvPr/>
        </p:nvSpPr>
        <p:spPr>
          <a:xfrm rot="5400000">
            <a:off x="6053137" y="1478531"/>
            <a:ext cx="85725" cy="6072188"/>
          </a:xfrm>
          <a:prstGeom prst="rect">
            <a:avLst/>
          </a:prstGeom>
          <a:solidFill>
            <a:srgbClr val="F4F4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41849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646</Words>
  <Application>Microsoft Office PowerPoint</Application>
  <PresentationFormat>Szélesvásznú</PresentationFormat>
  <Paragraphs>145</Paragraphs>
  <Slides>11</Slides>
  <Notes>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Aptos</vt:lpstr>
      <vt:lpstr>Arial</vt:lpstr>
      <vt:lpstr>Corbel</vt:lpstr>
      <vt:lpstr>Office-téma</vt:lpstr>
      <vt:lpstr>E-Sport csapat adminisztrációs felület</vt:lpstr>
      <vt:lpstr>Követelmények</vt:lpstr>
      <vt:lpstr>Követelmények</vt:lpstr>
      <vt:lpstr>Követelmények</vt:lpstr>
      <vt:lpstr>AI-Használat a webalkalmazásban</vt:lpstr>
      <vt:lpstr>AI-Használat a webalkalmazásban</vt:lpstr>
      <vt:lpstr>Egységtesztek</vt:lpstr>
      <vt:lpstr>Egységtesztek</vt:lpstr>
      <vt:lpstr>Összegzés</vt:lpstr>
      <vt:lpstr>Összegzés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E-Sport csapat adminisztrációs felület</dc:title>
  <dc:creator>Ádám Kiss Bálint (banki-tbanya.edu.hu)</dc:creator>
  <cp:lastModifiedBy>Kopi</cp:lastModifiedBy>
  <cp:revision>3</cp:revision>
  <dcterms:created xsi:type="dcterms:W3CDTF">2026-10-18T17:57:12Z</dcterms:created>
  <dcterms:modified xsi:type="dcterms:W3CDTF">2026-10-18T20:27:50Z</dcterms:modified>
</cp:coreProperties>
</file>